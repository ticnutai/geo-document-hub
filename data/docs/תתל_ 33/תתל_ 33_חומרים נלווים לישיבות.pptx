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6" r:id="rId4"/>
  </p:sldMasterIdLst>
  <p:notesMasterIdLst>
    <p:notesMasterId r:id="rId29"/>
  </p:notesMasterIdLst>
  <p:handoutMasterIdLst>
    <p:handoutMasterId r:id="rId30"/>
  </p:handoutMasterIdLst>
  <p:sldIdLst>
    <p:sldId id="640" r:id="rId5"/>
    <p:sldId id="644" r:id="rId6"/>
    <p:sldId id="661" r:id="rId7"/>
    <p:sldId id="645" r:id="rId8"/>
    <p:sldId id="646" r:id="rId9"/>
    <p:sldId id="647" r:id="rId10"/>
    <p:sldId id="697" r:id="rId11"/>
    <p:sldId id="698" r:id="rId12"/>
    <p:sldId id="684" r:id="rId13"/>
    <p:sldId id="686" r:id="rId14"/>
    <p:sldId id="703" r:id="rId15"/>
    <p:sldId id="704" r:id="rId16"/>
    <p:sldId id="700" r:id="rId17"/>
    <p:sldId id="701" r:id="rId18"/>
    <p:sldId id="706" r:id="rId19"/>
    <p:sldId id="702" r:id="rId20"/>
    <p:sldId id="665" r:id="rId21"/>
    <p:sldId id="667" r:id="rId22"/>
    <p:sldId id="669" r:id="rId23"/>
    <p:sldId id="671" r:id="rId24"/>
    <p:sldId id="672" r:id="rId25"/>
    <p:sldId id="673" r:id="rId26"/>
    <p:sldId id="682" r:id="rId27"/>
    <p:sldId id="680" r:id="rId28"/>
  </p:sldIdLst>
  <p:sldSz cx="41994138" cy="23622000"/>
  <p:notesSz cx="7010400" cy="9296400"/>
  <p:defaultTextStyle>
    <a:defPPr>
      <a:defRPr lang="uk-UA"/>
    </a:defPPr>
    <a:lvl1pPr marL="0" algn="l" defTabSz="2737631" rtl="0" eaLnBrk="1" latinLnBrk="0" hangingPunct="1">
      <a:defRPr sz="5389" kern="1200">
        <a:solidFill>
          <a:schemeClr val="tx1"/>
        </a:solidFill>
        <a:latin typeface="+mn-lt"/>
        <a:ea typeface="+mn-ea"/>
        <a:cs typeface="+mn-cs"/>
      </a:defRPr>
    </a:lvl1pPr>
    <a:lvl2pPr marL="1368816" algn="l" defTabSz="2737631" rtl="0" eaLnBrk="1" latinLnBrk="0" hangingPunct="1">
      <a:defRPr sz="5389" kern="1200">
        <a:solidFill>
          <a:schemeClr val="tx1"/>
        </a:solidFill>
        <a:latin typeface="+mn-lt"/>
        <a:ea typeface="+mn-ea"/>
        <a:cs typeface="+mn-cs"/>
      </a:defRPr>
    </a:lvl2pPr>
    <a:lvl3pPr marL="2737631" algn="l" defTabSz="2737631" rtl="0" eaLnBrk="1" latinLnBrk="0" hangingPunct="1">
      <a:defRPr sz="5389" kern="1200">
        <a:solidFill>
          <a:schemeClr val="tx1"/>
        </a:solidFill>
        <a:latin typeface="+mn-lt"/>
        <a:ea typeface="+mn-ea"/>
        <a:cs typeface="+mn-cs"/>
      </a:defRPr>
    </a:lvl3pPr>
    <a:lvl4pPr marL="4106447" algn="l" defTabSz="2737631" rtl="0" eaLnBrk="1" latinLnBrk="0" hangingPunct="1">
      <a:defRPr sz="5389" kern="1200">
        <a:solidFill>
          <a:schemeClr val="tx1"/>
        </a:solidFill>
        <a:latin typeface="+mn-lt"/>
        <a:ea typeface="+mn-ea"/>
        <a:cs typeface="+mn-cs"/>
      </a:defRPr>
    </a:lvl4pPr>
    <a:lvl5pPr marL="5475263" algn="l" defTabSz="2737631" rtl="0" eaLnBrk="1" latinLnBrk="0" hangingPunct="1">
      <a:defRPr sz="5389" kern="1200">
        <a:solidFill>
          <a:schemeClr val="tx1"/>
        </a:solidFill>
        <a:latin typeface="+mn-lt"/>
        <a:ea typeface="+mn-ea"/>
        <a:cs typeface="+mn-cs"/>
      </a:defRPr>
    </a:lvl5pPr>
    <a:lvl6pPr marL="6844078" algn="l" defTabSz="2737631" rtl="0" eaLnBrk="1" latinLnBrk="0" hangingPunct="1">
      <a:defRPr sz="5389" kern="1200">
        <a:solidFill>
          <a:schemeClr val="tx1"/>
        </a:solidFill>
        <a:latin typeface="+mn-lt"/>
        <a:ea typeface="+mn-ea"/>
        <a:cs typeface="+mn-cs"/>
      </a:defRPr>
    </a:lvl6pPr>
    <a:lvl7pPr marL="8212894" algn="l" defTabSz="2737631" rtl="0" eaLnBrk="1" latinLnBrk="0" hangingPunct="1">
      <a:defRPr sz="5389" kern="1200">
        <a:solidFill>
          <a:schemeClr val="tx1"/>
        </a:solidFill>
        <a:latin typeface="+mn-lt"/>
        <a:ea typeface="+mn-ea"/>
        <a:cs typeface="+mn-cs"/>
      </a:defRPr>
    </a:lvl7pPr>
    <a:lvl8pPr marL="9581710" algn="l" defTabSz="2737631" rtl="0" eaLnBrk="1" latinLnBrk="0" hangingPunct="1">
      <a:defRPr sz="5389" kern="1200">
        <a:solidFill>
          <a:schemeClr val="tx1"/>
        </a:solidFill>
        <a:latin typeface="+mn-lt"/>
        <a:ea typeface="+mn-ea"/>
        <a:cs typeface="+mn-cs"/>
      </a:defRPr>
    </a:lvl8pPr>
    <a:lvl9pPr marL="10950525" algn="l" defTabSz="2737631" rtl="0" eaLnBrk="1" latinLnBrk="0" hangingPunct="1">
      <a:defRPr sz="538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מקטע ברירת מחדל" id="{E49F1679-4B0F-490F-A91D-93E736865CD7}">
          <p14:sldIdLst>
            <p14:sldId id="640"/>
            <p14:sldId id="644"/>
            <p14:sldId id="661"/>
            <p14:sldId id="645"/>
            <p14:sldId id="646"/>
            <p14:sldId id="647"/>
            <p14:sldId id="697"/>
            <p14:sldId id="698"/>
            <p14:sldId id="684"/>
            <p14:sldId id="686"/>
            <p14:sldId id="703"/>
            <p14:sldId id="704"/>
            <p14:sldId id="700"/>
            <p14:sldId id="701"/>
            <p14:sldId id="706"/>
            <p14:sldId id="702"/>
            <p14:sldId id="665"/>
            <p14:sldId id="667"/>
            <p14:sldId id="669"/>
            <p14:sldId id="671"/>
            <p14:sldId id="672"/>
            <p14:sldId id="673"/>
            <p14:sldId id="682"/>
            <p14:sldId id="6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440" userDrawn="1">
          <p15:clr>
            <a:srgbClr val="A4A3A4"/>
          </p15:clr>
        </p15:guide>
        <p15:guide id="2" pos="132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D1B"/>
    <a:srgbClr val="00AEEF"/>
    <a:srgbClr val="231C71"/>
    <a:srgbClr val="3D3A43"/>
    <a:srgbClr val="00ADEF"/>
    <a:srgbClr val="63636E"/>
    <a:srgbClr val="FFFFFF"/>
    <a:srgbClr val="282828"/>
    <a:srgbClr val="F28B20"/>
    <a:srgbClr val="FBDC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2925" autoAdjust="0"/>
  </p:normalViewPr>
  <p:slideViewPr>
    <p:cSldViewPr>
      <p:cViewPr varScale="1">
        <p:scale>
          <a:sx n="20" d="100"/>
          <a:sy n="20" d="100"/>
        </p:scale>
        <p:origin x="606" y="72"/>
      </p:cViewPr>
      <p:guideLst>
        <p:guide orient="horz" pos="7440"/>
        <p:guide pos="132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6856"/>
    </p:cViewPr>
  </p:sorterViewPr>
  <p:notesViewPr>
    <p:cSldViewPr>
      <p:cViewPr varScale="1">
        <p:scale>
          <a:sx n="88" d="100"/>
          <a:sy n="88" d="100"/>
        </p:scale>
        <p:origin x="382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7E71ABF-16EC-134B-BE3B-DD519E1E5F3F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83A1174-FFE8-0C4E-B498-6E70B894C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087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B027185-10FB-4A57-B3F0-45136A811A24}" type="datetimeFigureOut">
              <a:rPr lang="uk-UA" smtClean="0"/>
              <a:t>13.03.2023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D9C3A12-1E0F-412B-B376-8089A55D946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67216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5088" rtl="0" eaLnBrk="1" latinLnBrk="0" hangingPunct="1">
      <a:defRPr sz="2395" kern="1200">
        <a:solidFill>
          <a:schemeClr val="tx1"/>
        </a:solidFill>
        <a:latin typeface="+mn-lt"/>
        <a:ea typeface="+mn-ea"/>
        <a:cs typeface="+mn-cs"/>
      </a:defRPr>
    </a:lvl1pPr>
    <a:lvl2pPr marL="912544" algn="l" defTabSz="1825088" rtl="0" eaLnBrk="1" latinLnBrk="0" hangingPunct="1">
      <a:defRPr sz="2395" kern="1200">
        <a:solidFill>
          <a:schemeClr val="tx1"/>
        </a:solidFill>
        <a:latin typeface="+mn-lt"/>
        <a:ea typeface="+mn-ea"/>
        <a:cs typeface="+mn-cs"/>
      </a:defRPr>
    </a:lvl2pPr>
    <a:lvl3pPr marL="1825088" algn="l" defTabSz="1825088" rtl="0" eaLnBrk="1" latinLnBrk="0" hangingPunct="1">
      <a:defRPr sz="2395" kern="1200">
        <a:solidFill>
          <a:schemeClr val="tx1"/>
        </a:solidFill>
        <a:latin typeface="+mn-lt"/>
        <a:ea typeface="+mn-ea"/>
        <a:cs typeface="+mn-cs"/>
      </a:defRPr>
    </a:lvl3pPr>
    <a:lvl4pPr marL="2737631" algn="l" defTabSz="1825088" rtl="0" eaLnBrk="1" latinLnBrk="0" hangingPunct="1">
      <a:defRPr sz="2395" kern="1200">
        <a:solidFill>
          <a:schemeClr val="tx1"/>
        </a:solidFill>
        <a:latin typeface="+mn-lt"/>
        <a:ea typeface="+mn-ea"/>
        <a:cs typeface="+mn-cs"/>
      </a:defRPr>
    </a:lvl4pPr>
    <a:lvl5pPr marL="3650175" algn="l" defTabSz="1825088" rtl="0" eaLnBrk="1" latinLnBrk="0" hangingPunct="1">
      <a:defRPr sz="2395" kern="1200">
        <a:solidFill>
          <a:schemeClr val="tx1"/>
        </a:solidFill>
        <a:latin typeface="+mn-lt"/>
        <a:ea typeface="+mn-ea"/>
        <a:cs typeface="+mn-cs"/>
      </a:defRPr>
    </a:lvl5pPr>
    <a:lvl6pPr marL="4562719" algn="l" defTabSz="1825088" rtl="0" eaLnBrk="1" latinLnBrk="0" hangingPunct="1">
      <a:defRPr sz="2395" kern="1200">
        <a:solidFill>
          <a:schemeClr val="tx1"/>
        </a:solidFill>
        <a:latin typeface="+mn-lt"/>
        <a:ea typeface="+mn-ea"/>
        <a:cs typeface="+mn-cs"/>
      </a:defRPr>
    </a:lvl6pPr>
    <a:lvl7pPr marL="5475263" algn="l" defTabSz="1825088" rtl="0" eaLnBrk="1" latinLnBrk="0" hangingPunct="1">
      <a:defRPr sz="2395" kern="1200">
        <a:solidFill>
          <a:schemeClr val="tx1"/>
        </a:solidFill>
        <a:latin typeface="+mn-lt"/>
        <a:ea typeface="+mn-ea"/>
        <a:cs typeface="+mn-cs"/>
      </a:defRPr>
    </a:lvl7pPr>
    <a:lvl8pPr marL="6387806" algn="l" defTabSz="1825088" rtl="0" eaLnBrk="1" latinLnBrk="0" hangingPunct="1">
      <a:defRPr sz="2395" kern="1200">
        <a:solidFill>
          <a:schemeClr val="tx1"/>
        </a:solidFill>
        <a:latin typeface="+mn-lt"/>
        <a:ea typeface="+mn-ea"/>
        <a:cs typeface="+mn-cs"/>
      </a:defRPr>
    </a:lvl8pPr>
    <a:lvl9pPr marL="7300350" algn="l" defTabSz="1825088" rtl="0" eaLnBrk="1" latinLnBrk="0" hangingPunct="1">
      <a:defRPr sz="239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he-IL" dirty="0"/>
              <a:t>דף</a:t>
            </a:r>
            <a:r>
              <a:rPr lang="he-IL" baseline="0" dirty="0"/>
              <a:t> שער ללא טמפלייט. ניתן להחליף את תמונת הרקע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0561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defTabSz="1859765">
              <a:defRPr/>
            </a:pPr>
            <a:r>
              <a:rPr lang="he-IL" dirty="0"/>
              <a:t>ניתן לשים</a:t>
            </a:r>
            <a:r>
              <a:rPr lang="he-IL" baseline="0" dirty="0"/>
              <a:t> גם תמונות בפורמט ריבועי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11193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defTabSz="1859765">
              <a:defRPr/>
            </a:pPr>
            <a:r>
              <a:rPr lang="he-IL" dirty="0"/>
              <a:t>ניתן לשים</a:t>
            </a:r>
            <a:r>
              <a:rPr lang="he-IL" baseline="0" dirty="0"/>
              <a:t> גם תמונות בפורמט ריבועי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02005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defTabSz="1859765">
              <a:defRPr/>
            </a:pPr>
            <a:r>
              <a:rPr lang="he-IL" dirty="0"/>
              <a:t>ניתן לשים</a:t>
            </a:r>
            <a:r>
              <a:rPr lang="he-IL" baseline="0" dirty="0"/>
              <a:t> גם תמונות בפורמט ריבועי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7913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defTabSz="1859765">
              <a:defRPr/>
            </a:pPr>
            <a:r>
              <a:rPr lang="he-IL" dirty="0"/>
              <a:t>ניתן לשים</a:t>
            </a:r>
            <a:r>
              <a:rPr lang="he-IL" baseline="0" dirty="0"/>
              <a:t> גם תמונות בפורמט ריבועי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31468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defTabSz="1859765">
              <a:defRPr/>
            </a:pPr>
            <a:r>
              <a:rPr lang="he-IL" dirty="0"/>
              <a:t>האיקונים</a:t>
            </a:r>
            <a:r>
              <a:rPr lang="he-IL" baseline="0" dirty="0"/>
              <a:t> ניתנים לעריכה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69345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defTabSz="1859765">
              <a:defRPr/>
            </a:pPr>
            <a:r>
              <a:rPr lang="he-IL" dirty="0"/>
              <a:t>האיקונים</a:t>
            </a:r>
            <a:r>
              <a:rPr lang="he-IL" baseline="0" dirty="0"/>
              <a:t> ניתנים לעריכה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6527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defTabSz="1859765">
              <a:defRPr/>
            </a:pPr>
            <a:r>
              <a:rPr lang="he-IL" dirty="0"/>
              <a:t>האיקונים</a:t>
            </a:r>
            <a:r>
              <a:rPr lang="he-IL" baseline="0" dirty="0"/>
              <a:t> ניתנים לעריכה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59962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defTabSz="1859765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587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defTabSz="1859765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779569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defTabSz="1859765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904985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defTabSz="1859765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679203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defTabSz="1859765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21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93819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defTabSz="1859765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22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8432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8" y="595"/>
            <a:ext cx="41991229" cy="236224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66069" y="15011400"/>
            <a:ext cx="29936412" cy="2585156"/>
          </a:xfrm>
        </p:spPr>
        <p:txBody>
          <a:bodyPr anchor="b">
            <a:normAutofit/>
          </a:bodyPr>
          <a:lstStyle>
            <a:lvl1pPr algn="r">
              <a:defRPr sz="15000" b="1">
                <a:solidFill>
                  <a:schemeClr val="bg1"/>
                </a:solidFill>
                <a:cs typeface="+mn-cs"/>
              </a:defRPr>
            </a:lvl1pPr>
          </a:lstStyle>
          <a:p>
            <a:r>
              <a:rPr lang="he-IL" dirty="0"/>
              <a:t>אגף השיווק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77" y="17678400"/>
            <a:ext cx="31495604" cy="1791474"/>
          </a:xfrm>
        </p:spPr>
        <p:txBody>
          <a:bodyPr/>
          <a:lstStyle>
            <a:lvl1pPr marL="0" indent="0" algn="r">
              <a:buNone/>
              <a:defRPr sz="8267">
                <a:solidFill>
                  <a:schemeClr val="bg1"/>
                </a:solidFill>
                <a:cs typeface="+mn-cs"/>
              </a:defRPr>
            </a:lvl1pPr>
            <a:lvl2pPr marL="1574780" indent="0" algn="ctr">
              <a:buNone/>
              <a:defRPr sz="6889"/>
            </a:lvl2pPr>
            <a:lvl3pPr marL="3149559" indent="0" algn="ctr">
              <a:buNone/>
              <a:defRPr sz="6200"/>
            </a:lvl3pPr>
            <a:lvl4pPr marL="4724339" indent="0" algn="ctr">
              <a:buNone/>
              <a:defRPr sz="5511"/>
            </a:lvl4pPr>
            <a:lvl5pPr marL="6299119" indent="0" algn="ctr">
              <a:buNone/>
              <a:defRPr sz="5511"/>
            </a:lvl5pPr>
            <a:lvl6pPr marL="7873898" indent="0" algn="ctr">
              <a:buNone/>
              <a:defRPr sz="5511"/>
            </a:lvl6pPr>
            <a:lvl7pPr marL="9448678" indent="0" algn="ctr">
              <a:buNone/>
              <a:defRPr sz="5511"/>
            </a:lvl7pPr>
            <a:lvl8pPr marL="11023458" indent="0" algn="ctr">
              <a:buNone/>
              <a:defRPr sz="5511"/>
            </a:lvl8pPr>
            <a:lvl9pPr marL="12598237" indent="0" algn="ctr">
              <a:buNone/>
              <a:defRPr sz="5511"/>
            </a:lvl9pPr>
          </a:lstStyle>
          <a:p>
            <a:r>
              <a:rPr lang="he-IL" dirty="0"/>
              <a:t>תחומי אחריות ועשייה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35418155" y="17481373"/>
            <a:ext cx="9448681" cy="1257653"/>
          </a:xfrm>
        </p:spPr>
        <p:txBody>
          <a:bodyPr/>
          <a:lstStyle>
            <a:lvl1pPr>
              <a:defRPr sz="7000" b="1">
                <a:solidFill>
                  <a:schemeClr val="bg1"/>
                </a:solidFill>
                <a:cs typeface="+mn-cs"/>
              </a:defRPr>
            </a:lvl1pPr>
          </a:lstStyle>
          <a:p>
            <a:r>
              <a:rPr lang="he-IL" sz="7800" dirty="0"/>
              <a:t>אוקטובר</a:t>
            </a:r>
            <a:r>
              <a:rPr lang="he-IL" dirty="0"/>
              <a:t>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863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" y="-3832"/>
            <a:ext cx="41987325" cy="2362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616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" y="-3832"/>
            <a:ext cx="41987325" cy="2362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73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" y="-3832"/>
            <a:ext cx="41987324" cy="2362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18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38200"/>
            <a:ext cx="41113870" cy="28610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808" y="20905842"/>
            <a:ext cx="7519262" cy="195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2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11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5225" y="5889099"/>
            <a:ext cx="36219944" cy="9826094"/>
          </a:xfrm>
        </p:spPr>
        <p:txBody>
          <a:bodyPr anchor="b"/>
          <a:lstStyle>
            <a:lvl1pPr>
              <a:defRPr sz="20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5225" y="15808152"/>
            <a:ext cx="36219944" cy="5167311"/>
          </a:xfrm>
        </p:spPr>
        <p:txBody>
          <a:bodyPr/>
          <a:lstStyle>
            <a:lvl1pPr marL="0" indent="0">
              <a:buNone/>
              <a:defRPr sz="8267">
                <a:solidFill>
                  <a:schemeClr val="tx1">
                    <a:tint val="75000"/>
                  </a:schemeClr>
                </a:solidFill>
              </a:defRPr>
            </a:lvl1pPr>
            <a:lvl2pPr marL="1574780" indent="0">
              <a:buNone/>
              <a:defRPr sz="6889">
                <a:solidFill>
                  <a:schemeClr val="tx1">
                    <a:tint val="75000"/>
                  </a:schemeClr>
                </a:solidFill>
              </a:defRPr>
            </a:lvl2pPr>
            <a:lvl3pPr marL="3149559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3pPr>
            <a:lvl4pPr marL="4724339" indent="0">
              <a:buNone/>
              <a:defRPr sz="5511">
                <a:solidFill>
                  <a:schemeClr val="tx1">
                    <a:tint val="75000"/>
                  </a:schemeClr>
                </a:solidFill>
              </a:defRPr>
            </a:lvl4pPr>
            <a:lvl5pPr marL="6299119" indent="0">
              <a:buNone/>
              <a:defRPr sz="5511">
                <a:solidFill>
                  <a:schemeClr val="tx1">
                    <a:tint val="75000"/>
                  </a:schemeClr>
                </a:solidFill>
              </a:defRPr>
            </a:lvl5pPr>
            <a:lvl6pPr marL="7873898" indent="0">
              <a:buNone/>
              <a:defRPr sz="5511">
                <a:solidFill>
                  <a:schemeClr val="tx1">
                    <a:tint val="75000"/>
                  </a:schemeClr>
                </a:solidFill>
              </a:defRPr>
            </a:lvl6pPr>
            <a:lvl7pPr marL="9448678" indent="0">
              <a:buNone/>
              <a:defRPr sz="5511">
                <a:solidFill>
                  <a:schemeClr val="tx1">
                    <a:tint val="75000"/>
                  </a:schemeClr>
                </a:solidFill>
              </a:defRPr>
            </a:lvl7pPr>
            <a:lvl8pPr marL="11023458" indent="0">
              <a:buNone/>
              <a:defRPr sz="5511">
                <a:solidFill>
                  <a:schemeClr val="tx1">
                    <a:tint val="75000"/>
                  </a:schemeClr>
                </a:solidFill>
              </a:defRPr>
            </a:lvl8pPr>
            <a:lvl9pPr marL="12598237" indent="0">
              <a:buNone/>
              <a:defRPr sz="55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437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87097" y="6288264"/>
            <a:ext cx="17847509" cy="149879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259532" y="6288264"/>
            <a:ext cx="17847509" cy="149879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217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2567" y="1257655"/>
            <a:ext cx="36219944" cy="45658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2568" y="5790673"/>
            <a:ext cx="17765487" cy="2837919"/>
          </a:xfrm>
        </p:spPr>
        <p:txBody>
          <a:bodyPr anchor="b"/>
          <a:lstStyle>
            <a:lvl1pPr marL="0" indent="0">
              <a:buNone/>
              <a:defRPr sz="8267" b="1"/>
            </a:lvl1pPr>
            <a:lvl2pPr marL="1574780" indent="0">
              <a:buNone/>
              <a:defRPr sz="6889" b="1"/>
            </a:lvl2pPr>
            <a:lvl3pPr marL="3149559" indent="0">
              <a:buNone/>
              <a:defRPr sz="6200" b="1"/>
            </a:lvl3pPr>
            <a:lvl4pPr marL="4724339" indent="0">
              <a:buNone/>
              <a:defRPr sz="5511" b="1"/>
            </a:lvl4pPr>
            <a:lvl5pPr marL="6299119" indent="0">
              <a:buNone/>
              <a:defRPr sz="5511" b="1"/>
            </a:lvl5pPr>
            <a:lvl6pPr marL="7873898" indent="0">
              <a:buNone/>
              <a:defRPr sz="5511" b="1"/>
            </a:lvl6pPr>
            <a:lvl7pPr marL="9448678" indent="0">
              <a:buNone/>
              <a:defRPr sz="5511" b="1"/>
            </a:lvl7pPr>
            <a:lvl8pPr marL="11023458" indent="0">
              <a:buNone/>
              <a:defRPr sz="5511" b="1"/>
            </a:lvl8pPr>
            <a:lvl9pPr marL="12598237" indent="0">
              <a:buNone/>
              <a:defRPr sz="55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92568" y="8628592"/>
            <a:ext cx="17765487" cy="12691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259533" y="5790673"/>
            <a:ext cx="17852978" cy="2837919"/>
          </a:xfrm>
        </p:spPr>
        <p:txBody>
          <a:bodyPr anchor="b"/>
          <a:lstStyle>
            <a:lvl1pPr marL="0" indent="0">
              <a:buNone/>
              <a:defRPr sz="8267" b="1"/>
            </a:lvl1pPr>
            <a:lvl2pPr marL="1574780" indent="0">
              <a:buNone/>
              <a:defRPr sz="6889" b="1"/>
            </a:lvl2pPr>
            <a:lvl3pPr marL="3149559" indent="0">
              <a:buNone/>
              <a:defRPr sz="6200" b="1"/>
            </a:lvl3pPr>
            <a:lvl4pPr marL="4724339" indent="0">
              <a:buNone/>
              <a:defRPr sz="5511" b="1"/>
            </a:lvl4pPr>
            <a:lvl5pPr marL="6299119" indent="0">
              <a:buNone/>
              <a:defRPr sz="5511" b="1"/>
            </a:lvl5pPr>
            <a:lvl6pPr marL="7873898" indent="0">
              <a:buNone/>
              <a:defRPr sz="5511" b="1"/>
            </a:lvl6pPr>
            <a:lvl7pPr marL="9448678" indent="0">
              <a:buNone/>
              <a:defRPr sz="5511" b="1"/>
            </a:lvl7pPr>
            <a:lvl8pPr marL="11023458" indent="0">
              <a:buNone/>
              <a:defRPr sz="5511" b="1"/>
            </a:lvl8pPr>
            <a:lvl9pPr marL="12598237" indent="0">
              <a:buNone/>
              <a:defRPr sz="55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259533" y="8628592"/>
            <a:ext cx="17852978" cy="12691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850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27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41994138" cy="2362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73"/>
          </a:p>
        </p:txBody>
      </p:sp>
    </p:spTree>
    <p:extLst>
      <p:ext uri="{BB962C8B-B14F-4D97-AF65-F5344CB8AC3E}">
        <p14:creationId xmlns:p14="http://schemas.microsoft.com/office/powerpoint/2010/main" val="4200083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2569" y="1574800"/>
            <a:ext cx="13544201" cy="5511800"/>
          </a:xfrm>
        </p:spPr>
        <p:txBody>
          <a:bodyPr anchor="b"/>
          <a:lstStyle>
            <a:lvl1pPr>
              <a:defRPr sz="110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2979" y="3401132"/>
            <a:ext cx="21259532" cy="16786931"/>
          </a:xfrm>
        </p:spPr>
        <p:txBody>
          <a:bodyPr/>
          <a:lstStyle>
            <a:lvl1pPr>
              <a:defRPr sz="11022"/>
            </a:lvl1pPr>
            <a:lvl2pPr>
              <a:defRPr sz="9644"/>
            </a:lvl2pPr>
            <a:lvl3pPr>
              <a:defRPr sz="8267"/>
            </a:lvl3pPr>
            <a:lvl4pPr>
              <a:defRPr sz="6889"/>
            </a:lvl4pPr>
            <a:lvl5pPr>
              <a:defRPr sz="6889"/>
            </a:lvl5pPr>
            <a:lvl6pPr>
              <a:defRPr sz="6889"/>
            </a:lvl6pPr>
            <a:lvl7pPr>
              <a:defRPr sz="6889"/>
            </a:lvl7pPr>
            <a:lvl8pPr>
              <a:defRPr sz="6889"/>
            </a:lvl8pPr>
            <a:lvl9pPr>
              <a:defRPr sz="6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92569" y="7086600"/>
            <a:ext cx="13544201" cy="13128803"/>
          </a:xfrm>
        </p:spPr>
        <p:txBody>
          <a:bodyPr/>
          <a:lstStyle>
            <a:lvl1pPr marL="0" indent="0">
              <a:buNone/>
              <a:defRPr sz="5511"/>
            </a:lvl1pPr>
            <a:lvl2pPr marL="1574780" indent="0">
              <a:buNone/>
              <a:defRPr sz="4822"/>
            </a:lvl2pPr>
            <a:lvl3pPr marL="3149559" indent="0">
              <a:buNone/>
              <a:defRPr sz="4133"/>
            </a:lvl3pPr>
            <a:lvl4pPr marL="4724339" indent="0">
              <a:buNone/>
              <a:defRPr sz="3444"/>
            </a:lvl4pPr>
            <a:lvl5pPr marL="6299119" indent="0">
              <a:buNone/>
              <a:defRPr sz="3444"/>
            </a:lvl5pPr>
            <a:lvl6pPr marL="7873898" indent="0">
              <a:buNone/>
              <a:defRPr sz="3444"/>
            </a:lvl6pPr>
            <a:lvl7pPr marL="9448678" indent="0">
              <a:buNone/>
              <a:defRPr sz="3444"/>
            </a:lvl7pPr>
            <a:lvl8pPr marL="11023458" indent="0">
              <a:buNone/>
              <a:defRPr sz="3444"/>
            </a:lvl8pPr>
            <a:lvl9pPr marL="12598237" indent="0">
              <a:buNone/>
              <a:defRPr sz="34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329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2569" y="1574800"/>
            <a:ext cx="13544201" cy="5511800"/>
          </a:xfrm>
        </p:spPr>
        <p:txBody>
          <a:bodyPr anchor="b"/>
          <a:lstStyle>
            <a:lvl1pPr>
              <a:defRPr sz="110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52979" y="3401132"/>
            <a:ext cx="21259532" cy="16786931"/>
          </a:xfrm>
        </p:spPr>
        <p:txBody>
          <a:bodyPr anchor="t"/>
          <a:lstStyle>
            <a:lvl1pPr marL="0" indent="0">
              <a:buNone/>
              <a:defRPr sz="11022"/>
            </a:lvl1pPr>
            <a:lvl2pPr marL="1574780" indent="0">
              <a:buNone/>
              <a:defRPr sz="9644"/>
            </a:lvl2pPr>
            <a:lvl3pPr marL="3149559" indent="0">
              <a:buNone/>
              <a:defRPr sz="8267"/>
            </a:lvl3pPr>
            <a:lvl4pPr marL="4724339" indent="0">
              <a:buNone/>
              <a:defRPr sz="6889"/>
            </a:lvl4pPr>
            <a:lvl5pPr marL="6299119" indent="0">
              <a:buNone/>
              <a:defRPr sz="6889"/>
            </a:lvl5pPr>
            <a:lvl6pPr marL="7873898" indent="0">
              <a:buNone/>
              <a:defRPr sz="6889"/>
            </a:lvl6pPr>
            <a:lvl7pPr marL="9448678" indent="0">
              <a:buNone/>
              <a:defRPr sz="6889"/>
            </a:lvl7pPr>
            <a:lvl8pPr marL="11023458" indent="0">
              <a:buNone/>
              <a:defRPr sz="6889"/>
            </a:lvl8pPr>
            <a:lvl9pPr marL="12598237" indent="0">
              <a:buNone/>
              <a:defRPr sz="688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92569" y="7086600"/>
            <a:ext cx="13544201" cy="13128803"/>
          </a:xfrm>
        </p:spPr>
        <p:txBody>
          <a:bodyPr/>
          <a:lstStyle>
            <a:lvl1pPr marL="0" indent="0">
              <a:buNone/>
              <a:defRPr sz="5511"/>
            </a:lvl1pPr>
            <a:lvl2pPr marL="1574780" indent="0">
              <a:buNone/>
              <a:defRPr sz="4822"/>
            </a:lvl2pPr>
            <a:lvl3pPr marL="3149559" indent="0">
              <a:buNone/>
              <a:defRPr sz="4133"/>
            </a:lvl3pPr>
            <a:lvl4pPr marL="4724339" indent="0">
              <a:buNone/>
              <a:defRPr sz="3444"/>
            </a:lvl4pPr>
            <a:lvl5pPr marL="6299119" indent="0">
              <a:buNone/>
              <a:defRPr sz="3444"/>
            </a:lvl5pPr>
            <a:lvl6pPr marL="7873898" indent="0">
              <a:buNone/>
              <a:defRPr sz="3444"/>
            </a:lvl6pPr>
            <a:lvl7pPr marL="9448678" indent="0">
              <a:buNone/>
              <a:defRPr sz="3444"/>
            </a:lvl7pPr>
            <a:lvl8pPr marL="11023458" indent="0">
              <a:buNone/>
              <a:defRPr sz="3444"/>
            </a:lvl8pPr>
            <a:lvl9pPr marL="12598237" indent="0">
              <a:buNone/>
              <a:defRPr sz="34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361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567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052055" y="1257653"/>
            <a:ext cx="9054986" cy="200185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87097" y="1257653"/>
            <a:ext cx="26640031" cy="200185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921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 SLIDE - right page#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51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87097" y="1257655"/>
            <a:ext cx="36219944" cy="4565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7097" y="6288264"/>
            <a:ext cx="36219944" cy="149879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87097" y="21894096"/>
            <a:ext cx="9448681" cy="1257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910558" y="21894096"/>
            <a:ext cx="14173022" cy="1257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658360" y="21894096"/>
            <a:ext cx="9448681" cy="1257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53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28" r:id="rId2"/>
    <p:sldLayoutId id="2147483930" r:id="rId3"/>
    <p:sldLayoutId id="2147483931" r:id="rId4"/>
    <p:sldLayoutId id="2147483929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  <p:sldLayoutId id="2147483926" r:id="rId14"/>
    <p:sldLayoutId id="2147483927" r:id="rId15"/>
    <p:sldLayoutId id="2147483915" r:id="rId16"/>
  </p:sldLayoutIdLst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txStyles>
    <p:titleStyle>
      <a:lvl1pPr algn="l" defTabSz="3149559" rtl="0" eaLnBrk="1" latinLnBrk="0" hangingPunct="1">
        <a:lnSpc>
          <a:spcPct val="90000"/>
        </a:lnSpc>
        <a:spcBef>
          <a:spcPct val="0"/>
        </a:spcBef>
        <a:buNone/>
        <a:defRPr sz="15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87390" indent="-787390" algn="l" defTabSz="3149559" rtl="0" eaLnBrk="1" latinLnBrk="0" hangingPunct="1">
        <a:lnSpc>
          <a:spcPct val="90000"/>
        </a:lnSpc>
        <a:spcBef>
          <a:spcPts val="3444"/>
        </a:spcBef>
        <a:buFont typeface="Arial" panose="020B0604020202020204" pitchFamily="34" charset="0"/>
        <a:buChar char="•"/>
        <a:defRPr sz="9644" kern="1200">
          <a:solidFill>
            <a:schemeClr val="tx1"/>
          </a:solidFill>
          <a:latin typeface="+mn-lt"/>
          <a:ea typeface="+mn-ea"/>
          <a:cs typeface="+mn-cs"/>
        </a:defRPr>
      </a:lvl1pPr>
      <a:lvl2pPr marL="2362170" indent="-787390" algn="l" defTabSz="3149559" rtl="0" eaLnBrk="1" latinLnBrk="0" hangingPunct="1">
        <a:lnSpc>
          <a:spcPct val="90000"/>
        </a:lnSpc>
        <a:spcBef>
          <a:spcPts val="1722"/>
        </a:spcBef>
        <a:buFont typeface="Arial" panose="020B0604020202020204" pitchFamily="34" charset="0"/>
        <a:buChar char="•"/>
        <a:defRPr sz="8267" kern="1200">
          <a:solidFill>
            <a:schemeClr val="tx1"/>
          </a:solidFill>
          <a:latin typeface="+mn-lt"/>
          <a:ea typeface="+mn-ea"/>
          <a:cs typeface="+mn-cs"/>
        </a:defRPr>
      </a:lvl2pPr>
      <a:lvl3pPr marL="3936949" indent="-787390" algn="l" defTabSz="3149559" rtl="0" eaLnBrk="1" latinLnBrk="0" hangingPunct="1">
        <a:lnSpc>
          <a:spcPct val="90000"/>
        </a:lnSpc>
        <a:spcBef>
          <a:spcPts val="1722"/>
        </a:spcBef>
        <a:buFont typeface="Arial" panose="020B0604020202020204" pitchFamily="34" charset="0"/>
        <a:buChar char="•"/>
        <a:defRPr sz="6889" kern="1200">
          <a:solidFill>
            <a:schemeClr val="tx1"/>
          </a:solidFill>
          <a:latin typeface="+mn-lt"/>
          <a:ea typeface="+mn-ea"/>
          <a:cs typeface="+mn-cs"/>
        </a:defRPr>
      </a:lvl3pPr>
      <a:lvl4pPr marL="5511729" indent="-787390" algn="l" defTabSz="3149559" rtl="0" eaLnBrk="1" latinLnBrk="0" hangingPunct="1">
        <a:lnSpc>
          <a:spcPct val="90000"/>
        </a:lnSpc>
        <a:spcBef>
          <a:spcPts val="1722"/>
        </a:spcBef>
        <a:buFont typeface="Arial" panose="020B0604020202020204" pitchFamily="34" charset="0"/>
        <a:buChar char="•"/>
        <a:defRPr sz="6200" kern="1200">
          <a:solidFill>
            <a:schemeClr val="tx1"/>
          </a:solidFill>
          <a:latin typeface="+mn-lt"/>
          <a:ea typeface="+mn-ea"/>
          <a:cs typeface="+mn-cs"/>
        </a:defRPr>
      </a:lvl4pPr>
      <a:lvl5pPr marL="7086509" indent="-787390" algn="l" defTabSz="3149559" rtl="0" eaLnBrk="1" latinLnBrk="0" hangingPunct="1">
        <a:lnSpc>
          <a:spcPct val="90000"/>
        </a:lnSpc>
        <a:spcBef>
          <a:spcPts val="1722"/>
        </a:spcBef>
        <a:buFont typeface="Arial" panose="020B0604020202020204" pitchFamily="34" charset="0"/>
        <a:buChar char="•"/>
        <a:defRPr sz="6200" kern="1200">
          <a:solidFill>
            <a:schemeClr val="tx1"/>
          </a:solidFill>
          <a:latin typeface="+mn-lt"/>
          <a:ea typeface="+mn-ea"/>
          <a:cs typeface="+mn-cs"/>
        </a:defRPr>
      </a:lvl5pPr>
      <a:lvl6pPr marL="8661288" indent="-787390" algn="l" defTabSz="3149559" rtl="0" eaLnBrk="1" latinLnBrk="0" hangingPunct="1">
        <a:lnSpc>
          <a:spcPct val="90000"/>
        </a:lnSpc>
        <a:spcBef>
          <a:spcPts val="1722"/>
        </a:spcBef>
        <a:buFont typeface="Arial" panose="020B0604020202020204" pitchFamily="34" charset="0"/>
        <a:buChar char="•"/>
        <a:defRPr sz="6200" kern="1200">
          <a:solidFill>
            <a:schemeClr val="tx1"/>
          </a:solidFill>
          <a:latin typeface="+mn-lt"/>
          <a:ea typeface="+mn-ea"/>
          <a:cs typeface="+mn-cs"/>
        </a:defRPr>
      </a:lvl6pPr>
      <a:lvl7pPr marL="10236068" indent="-787390" algn="l" defTabSz="3149559" rtl="0" eaLnBrk="1" latinLnBrk="0" hangingPunct="1">
        <a:lnSpc>
          <a:spcPct val="90000"/>
        </a:lnSpc>
        <a:spcBef>
          <a:spcPts val="1722"/>
        </a:spcBef>
        <a:buFont typeface="Arial" panose="020B0604020202020204" pitchFamily="34" charset="0"/>
        <a:buChar char="•"/>
        <a:defRPr sz="6200" kern="1200">
          <a:solidFill>
            <a:schemeClr val="tx1"/>
          </a:solidFill>
          <a:latin typeface="+mn-lt"/>
          <a:ea typeface="+mn-ea"/>
          <a:cs typeface="+mn-cs"/>
        </a:defRPr>
      </a:lvl7pPr>
      <a:lvl8pPr marL="11810848" indent="-787390" algn="l" defTabSz="3149559" rtl="0" eaLnBrk="1" latinLnBrk="0" hangingPunct="1">
        <a:lnSpc>
          <a:spcPct val="90000"/>
        </a:lnSpc>
        <a:spcBef>
          <a:spcPts val="1722"/>
        </a:spcBef>
        <a:buFont typeface="Arial" panose="020B0604020202020204" pitchFamily="34" charset="0"/>
        <a:buChar char="•"/>
        <a:defRPr sz="6200" kern="1200">
          <a:solidFill>
            <a:schemeClr val="tx1"/>
          </a:solidFill>
          <a:latin typeface="+mn-lt"/>
          <a:ea typeface="+mn-ea"/>
          <a:cs typeface="+mn-cs"/>
        </a:defRPr>
      </a:lvl8pPr>
      <a:lvl9pPr marL="13385627" indent="-787390" algn="l" defTabSz="3149559" rtl="0" eaLnBrk="1" latinLnBrk="0" hangingPunct="1">
        <a:lnSpc>
          <a:spcPct val="90000"/>
        </a:lnSpc>
        <a:spcBef>
          <a:spcPts val="1722"/>
        </a:spcBef>
        <a:buFont typeface="Arial" panose="020B0604020202020204" pitchFamily="34" charset="0"/>
        <a:buChar char="•"/>
        <a:defRPr sz="6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49559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1pPr>
      <a:lvl2pPr marL="1574780" algn="l" defTabSz="3149559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2pPr>
      <a:lvl3pPr marL="3149559" algn="l" defTabSz="3149559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3pPr>
      <a:lvl4pPr marL="4724339" algn="l" defTabSz="3149559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4pPr>
      <a:lvl5pPr marL="6299119" algn="l" defTabSz="3149559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5pPr>
      <a:lvl6pPr marL="7873898" algn="l" defTabSz="3149559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6pPr>
      <a:lvl7pPr marL="9448678" algn="l" defTabSz="3149559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7pPr>
      <a:lvl8pPr marL="11023458" algn="l" defTabSz="3149559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8pPr>
      <a:lvl9pPr marL="12598237" algn="l" defTabSz="3149559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8580"/>
            <a:ext cx="39129762" cy="211921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898"/>
          <a:stretch/>
        </p:blipFill>
        <p:spPr>
          <a:xfrm>
            <a:off x="-15287" y="19659600"/>
            <a:ext cx="42043556" cy="4038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565" y="11506200"/>
            <a:ext cx="34055586" cy="682258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078737" y="-8579"/>
            <a:ext cx="8949532" cy="23630579"/>
          </a:xfrm>
          <a:prstGeom prst="rect">
            <a:avLst/>
          </a:prstGeom>
        </p:spPr>
      </p:pic>
      <p:sp>
        <p:nvSpPr>
          <p:cNvPr id="17" name="Title 6"/>
          <p:cNvSpPr txBox="1">
            <a:spLocks/>
          </p:cNvSpPr>
          <p:nvPr/>
        </p:nvSpPr>
        <p:spPr>
          <a:xfrm>
            <a:off x="2844463" y="12192000"/>
            <a:ext cx="29936412" cy="2585156"/>
          </a:xfrm>
          <a:prstGeom prst="rect">
            <a:avLst/>
          </a:prstGeom>
        </p:spPr>
        <p:txBody>
          <a:bodyPr/>
          <a:lstStyle>
            <a:lvl1pPr algn="l" defTabSz="314955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515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he-IL" b="1" dirty="0">
                <a:solidFill>
                  <a:schemeClr val="bg1"/>
                </a:solidFill>
                <a:cs typeface="+mn-cs"/>
              </a:rPr>
              <a:t>מסילה 4 באיילון</a:t>
            </a:r>
          </a:p>
          <a:p>
            <a:pPr algn="r" rtl="1"/>
            <a:r>
              <a:rPr lang="he-IL" b="1" dirty="0">
                <a:solidFill>
                  <a:schemeClr val="bg1"/>
                </a:solidFill>
                <a:cs typeface="+mn-cs"/>
              </a:rPr>
              <a:t> </a:t>
            </a:r>
            <a:endParaRPr lang="en-US" b="1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8" name="Title 6"/>
          <p:cNvSpPr txBox="1">
            <a:spLocks/>
          </p:cNvSpPr>
          <p:nvPr/>
        </p:nvSpPr>
        <p:spPr>
          <a:xfrm>
            <a:off x="1078433" y="14020800"/>
            <a:ext cx="30906585" cy="1863939"/>
          </a:xfrm>
          <a:prstGeom prst="rect">
            <a:avLst/>
          </a:prstGeom>
        </p:spPr>
        <p:txBody>
          <a:bodyPr/>
          <a:lstStyle>
            <a:lvl1pPr algn="l" defTabSz="314955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515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he-IL" sz="8800" dirty="0">
              <a:solidFill>
                <a:schemeClr val="bg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/>
            <a:r>
              <a:rPr lang="he-IL" sz="8800" b="1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הצגה </a:t>
            </a:r>
            <a:r>
              <a:rPr lang="he-IL" sz="8800" b="1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לות"ל</a:t>
            </a:r>
            <a:r>
              <a:rPr lang="he-IL" sz="8800" b="1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- </a:t>
            </a:r>
            <a:r>
              <a:rPr lang="he-IL" sz="8800" b="1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פרוייקט</a:t>
            </a:r>
            <a:r>
              <a:rPr lang="he-IL" sz="8800" b="1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מסילה רביעית עבודות קיץ 2023</a:t>
            </a:r>
            <a:endParaRPr lang="he-IL" sz="8800" b="1" dirty="0">
              <a:solidFill>
                <a:schemeClr val="bg1"/>
              </a:solidFill>
              <a:effectLst/>
              <a:latin typeface="Tahoma" panose="020B0604030504040204" pitchFamily="34" charset="0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 rot="5400000">
            <a:off x="36213692" y="17691932"/>
            <a:ext cx="7982136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ct val="0"/>
              </a:spcBef>
              <a:defRPr/>
            </a:pPr>
            <a:r>
              <a:rPr lang="he-IL" altLang="he-IL" sz="9500" b="1" dirty="0">
                <a:solidFill>
                  <a:schemeClr val="bg1"/>
                </a:solidFill>
              </a:rPr>
              <a:t>מרץ 2023</a:t>
            </a:r>
            <a:endParaRPr lang="he-IL" altLang="he-IL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64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 txBox="1">
            <a:spLocks/>
          </p:cNvSpPr>
          <p:nvPr/>
        </p:nvSpPr>
        <p:spPr>
          <a:xfrm>
            <a:off x="17034669" y="908538"/>
            <a:ext cx="21783012" cy="2179353"/>
          </a:xfrm>
          <a:prstGeom prst="rect">
            <a:avLst/>
          </a:prstGeom>
        </p:spPr>
        <p:txBody>
          <a:bodyPr/>
          <a:lstStyle>
            <a:lvl1pPr algn="l" defTabSz="314955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515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he-IL" sz="9600" b="1" dirty="0">
                <a:solidFill>
                  <a:schemeClr val="bg1"/>
                </a:solidFill>
                <a:latin typeface="Arie"/>
                <a:cs typeface="+mn-cs"/>
              </a:rPr>
              <a:t>בעלי תפקידים עיקריים בפרויקט</a:t>
            </a:r>
          </a:p>
        </p:txBody>
      </p:sp>
      <p:graphicFrame>
        <p:nvGraphicFramePr>
          <p:cNvPr id="8" name="טבלה 7">
            <a:extLst>
              <a:ext uri="{FF2B5EF4-FFF2-40B4-BE49-F238E27FC236}">
                <a16:creationId xmlns:a16="http://schemas.microsoft.com/office/drawing/2014/main" id="{AD386C7B-42F4-7307-DB37-D9C9DFCE0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758299"/>
              </p:ext>
            </p:extLst>
          </p:nvPr>
        </p:nvGraphicFramePr>
        <p:xfrm>
          <a:off x="5071269" y="3352800"/>
          <a:ext cx="32632650" cy="17978068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2403500">
                  <a:extLst>
                    <a:ext uri="{9D8B030D-6E8A-4147-A177-3AD203B41FA5}">
                      <a16:colId xmlns:a16="http://schemas.microsoft.com/office/drawing/2014/main" val="3832044086"/>
                    </a:ext>
                  </a:extLst>
                </a:gridCol>
                <a:gridCol w="20229150">
                  <a:extLst>
                    <a:ext uri="{9D8B030D-6E8A-4147-A177-3AD203B41FA5}">
                      <a16:colId xmlns:a16="http://schemas.microsoft.com/office/drawing/2014/main" val="1161776147"/>
                    </a:ext>
                  </a:extLst>
                </a:gridCol>
              </a:tblGrid>
              <a:tr h="2045704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6000" b="1" u="sng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תפקיד</a:t>
                      </a:r>
                      <a:endParaRPr lang="he-IL" sz="6000" b="1" i="0" u="sng" strike="noStrike" dirty="0">
                        <a:solidFill>
                          <a:srgbClr val="000000"/>
                        </a:solidFill>
                        <a:effectLst/>
                        <a:latin typeface="Narkisim" panose="020E0502050101010101" pitchFamily="34" charset="-79"/>
                        <a:cs typeface="Narkisim" panose="020E0502050101010101" pitchFamily="34" charset="-79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6000" b="1" u="sng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שם</a:t>
                      </a:r>
                      <a:endParaRPr lang="he-IL" sz="6000" b="1" i="0" u="sng" strike="noStrike" dirty="0">
                        <a:solidFill>
                          <a:srgbClr val="000000"/>
                        </a:solidFill>
                        <a:effectLst/>
                        <a:latin typeface="Narkisim" panose="020E0502050101010101" pitchFamily="34" charset="-79"/>
                        <a:cs typeface="Narkisim" panose="020E0502050101010101" pitchFamily="34" charset="-79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238187"/>
                  </a:ext>
                </a:extLst>
              </a:tr>
              <a:tr h="1781732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 </a:t>
                      </a:r>
                      <a:r>
                        <a:rPr lang="he-IL" sz="6000" b="1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רכבת ישראל </a:t>
                      </a:r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- מנהלת פרויקט "מסילה 4 באיילון"</a:t>
                      </a:r>
                      <a:endParaRPr lang="he-IL" sz="6000" b="0" i="0" u="none" strike="noStrike" dirty="0">
                        <a:solidFill>
                          <a:srgbClr val="000000"/>
                        </a:solidFill>
                        <a:effectLst/>
                        <a:latin typeface="Narkisim" panose="020E0502050101010101" pitchFamily="34" charset="-79"/>
                        <a:cs typeface="Narkisim" panose="020E0502050101010101" pitchFamily="34" charset="-79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מרים </a:t>
                      </a:r>
                      <a:r>
                        <a:rPr lang="he-IL" sz="6000" u="none" strike="noStrike" dirty="0" err="1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פיאנקה</a:t>
                      </a:r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, סופי </a:t>
                      </a:r>
                      <a:r>
                        <a:rPr lang="he-IL" sz="6000" u="none" strike="noStrike" dirty="0" err="1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טוויזר</a:t>
                      </a:r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, אלעד גבריאל, אורן </a:t>
                      </a:r>
                      <a:r>
                        <a:rPr lang="he-IL" sz="6000" u="none" strike="noStrike" dirty="0" err="1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אמרוסי</a:t>
                      </a:r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, איתי דוד</a:t>
                      </a:r>
                      <a:endParaRPr lang="he-IL" sz="6000" b="0" i="0" u="none" strike="noStrike" dirty="0">
                        <a:solidFill>
                          <a:srgbClr val="000000"/>
                        </a:solidFill>
                        <a:effectLst/>
                        <a:latin typeface="Narkisim" panose="020E0502050101010101" pitchFamily="34" charset="-79"/>
                        <a:cs typeface="Narkisim" panose="020E0502050101010101" pitchFamily="34" charset="-79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9929824"/>
                  </a:ext>
                </a:extLst>
              </a:tr>
              <a:tr h="2669515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ניהול פרויקט</a:t>
                      </a:r>
                      <a:endParaRPr lang="he-IL" sz="6000" b="0" i="0" u="none" strike="noStrike" dirty="0">
                        <a:solidFill>
                          <a:srgbClr val="000000"/>
                        </a:solidFill>
                        <a:effectLst/>
                        <a:latin typeface="Narkisim" panose="020E0502050101010101" pitchFamily="34" charset="-79"/>
                        <a:cs typeface="Narkisim" panose="020E0502050101010101" pitchFamily="34" charset="-79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b="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אחים </a:t>
                      </a:r>
                      <a:r>
                        <a:rPr lang="he-IL" sz="6000" b="0" u="none" strike="noStrike" dirty="0" err="1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מרגולין</a:t>
                      </a:r>
                      <a:r>
                        <a:rPr lang="he-IL" sz="6000" b="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 בע"מ </a:t>
                      </a:r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(ניהול תכנון - יעקב </a:t>
                      </a:r>
                      <a:r>
                        <a:rPr lang="he-IL" sz="6000" u="none" strike="noStrike" dirty="0" err="1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קירז'נר</a:t>
                      </a:r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, שניר כהן, </a:t>
                      </a:r>
                    </a:p>
                    <a:p>
                      <a:pPr algn="ctr" rtl="1" fontAlgn="b"/>
                      <a:r>
                        <a:rPr lang="he-IL" sz="6000" u="none" strike="noStrike" dirty="0" err="1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מנה"פ</a:t>
                      </a:r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 - ציון ברכה,</a:t>
                      </a:r>
                      <a:br>
                        <a:rPr lang="en-US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</a:br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 פיקוח - אלכס </a:t>
                      </a:r>
                      <a:r>
                        <a:rPr lang="he-IL" sz="6000" u="none" strike="noStrike" dirty="0" err="1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ז'רדב</a:t>
                      </a:r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, דדי שרון)</a:t>
                      </a:r>
                      <a:endParaRPr lang="he-IL" sz="6000" b="0" i="0" u="none" strike="noStrike" dirty="0">
                        <a:solidFill>
                          <a:srgbClr val="000000"/>
                        </a:solidFill>
                        <a:effectLst/>
                        <a:latin typeface="Narkisim" panose="020E0502050101010101" pitchFamily="34" charset="-79"/>
                        <a:cs typeface="Narkisim" panose="020E0502050101010101" pitchFamily="34" charset="-79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79571"/>
                  </a:ext>
                </a:extLst>
              </a:tr>
              <a:tr h="1585419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b="0" i="0" u="none" strike="noStrike" dirty="0">
                          <a:solidFill>
                            <a:srgbClr val="000000"/>
                          </a:solidFill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תאום תשתיות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יינון  (אמיליה </a:t>
                      </a:r>
                      <a:r>
                        <a:rPr lang="he-IL" sz="6000" u="none" strike="noStrike" dirty="0" err="1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וקסלר</a:t>
                      </a:r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, יוליה </a:t>
                      </a:r>
                      <a:r>
                        <a:rPr lang="he-IL" sz="6000" u="none" strike="noStrike" dirty="0" err="1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קריזנובסקי</a:t>
                      </a:r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)</a:t>
                      </a:r>
                      <a:endParaRPr lang="he-IL" sz="6000" b="0" i="0" u="none" strike="noStrike" dirty="0">
                        <a:solidFill>
                          <a:srgbClr val="000000"/>
                        </a:solidFill>
                        <a:effectLst/>
                        <a:latin typeface="Narkisim" panose="020E0502050101010101" pitchFamily="34" charset="-79"/>
                        <a:cs typeface="Narkisim" panose="020E0502050101010101" pitchFamily="34" charset="-79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6608291"/>
                  </a:ext>
                </a:extLst>
              </a:tr>
              <a:tr h="1781732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מתכנן קונסטרוקציות קירות, מבנים, גשרים וקירות</a:t>
                      </a:r>
                      <a:endParaRPr lang="he-IL" sz="6000" b="0" i="0" u="none" strike="noStrike" dirty="0">
                        <a:solidFill>
                          <a:srgbClr val="000000"/>
                        </a:solidFill>
                        <a:effectLst/>
                        <a:latin typeface="Narkisim" panose="020E0502050101010101" pitchFamily="34" charset="-79"/>
                        <a:cs typeface="Narkisim" panose="020E0502050101010101" pitchFamily="34" charset="-79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u="none" strike="noStrike" dirty="0" err="1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ג.א.ש</a:t>
                      </a:r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 (צחי אוהב שלום, אחיה צבע)</a:t>
                      </a:r>
                      <a:endParaRPr lang="he-IL" sz="6000" b="0" i="0" u="none" strike="noStrike" dirty="0">
                        <a:solidFill>
                          <a:srgbClr val="000000"/>
                        </a:solidFill>
                        <a:effectLst/>
                        <a:latin typeface="Narkisim" panose="020E0502050101010101" pitchFamily="34" charset="-79"/>
                        <a:cs typeface="Narkisim" panose="020E0502050101010101" pitchFamily="34" charset="-79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775811"/>
                  </a:ext>
                </a:extLst>
              </a:tr>
              <a:tr h="1585419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חשמל ותקשורת</a:t>
                      </a:r>
                      <a:endParaRPr lang="he-IL" sz="6000" b="0" i="0" u="none" strike="noStrike" dirty="0">
                        <a:solidFill>
                          <a:srgbClr val="000000"/>
                        </a:solidFill>
                        <a:effectLst/>
                        <a:latin typeface="Narkisim" panose="020E0502050101010101" pitchFamily="34" charset="-79"/>
                        <a:cs typeface="Narkisim" panose="020E0502050101010101" pitchFamily="34" charset="-79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טופז הנדסה (נסים </a:t>
                      </a:r>
                      <a:r>
                        <a:rPr lang="he-IL" sz="6000" u="none" strike="noStrike" dirty="0" err="1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עבאיא</a:t>
                      </a:r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) </a:t>
                      </a:r>
                      <a:endParaRPr lang="he-IL" sz="6000" b="0" i="0" u="none" strike="noStrike" dirty="0">
                        <a:solidFill>
                          <a:srgbClr val="000000"/>
                        </a:solidFill>
                        <a:effectLst/>
                        <a:latin typeface="Narkisim" panose="020E0502050101010101" pitchFamily="34" charset="-79"/>
                        <a:cs typeface="Narkisim" panose="020E0502050101010101" pitchFamily="34" charset="-79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1031513"/>
                  </a:ext>
                </a:extLst>
              </a:tr>
              <a:tr h="1585419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b="0" i="0" u="none" strike="noStrike" dirty="0">
                          <a:solidFill>
                            <a:srgbClr val="000000"/>
                          </a:solidFill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הידרולוגיה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הידרומודול</a:t>
                      </a:r>
                      <a:r>
                        <a:rPr lang="he-IL" sz="6000" b="0" i="0" u="none" strike="noStrike" dirty="0">
                          <a:solidFill>
                            <a:srgbClr val="000000"/>
                          </a:solidFill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 (ד"ר אלעזר </a:t>
                      </a:r>
                      <a:r>
                        <a:rPr lang="he-IL" sz="6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במברגר</a:t>
                      </a:r>
                      <a:r>
                        <a:rPr lang="he-IL" sz="6000" b="0" i="0" u="none" strike="noStrike" dirty="0">
                          <a:solidFill>
                            <a:srgbClr val="000000"/>
                          </a:solidFill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290367"/>
                  </a:ext>
                </a:extLst>
              </a:tr>
              <a:tr h="1585419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b="0" i="0" u="none" strike="noStrike" dirty="0">
                          <a:solidFill>
                            <a:srgbClr val="000000"/>
                          </a:solidFill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איכות סביבה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תופ</a:t>
                      </a:r>
                      <a:r>
                        <a:rPr lang="he-IL" sz="6000" b="0" i="0" u="none" strike="noStrike" dirty="0">
                          <a:solidFill>
                            <a:srgbClr val="000000"/>
                          </a:solidFill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 סביבה (ענת </a:t>
                      </a:r>
                      <a:r>
                        <a:rPr lang="he-IL" sz="6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שרטר</a:t>
                      </a:r>
                      <a:r>
                        <a:rPr lang="he-IL" sz="6000" b="0" i="0" u="none" strike="noStrike" dirty="0">
                          <a:solidFill>
                            <a:srgbClr val="000000"/>
                          </a:solidFill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738672"/>
                  </a:ext>
                </a:extLst>
              </a:tr>
              <a:tr h="1585419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קרקע וביסוס</a:t>
                      </a:r>
                      <a:endParaRPr lang="he-IL" sz="6000" b="0" i="0" u="none" strike="noStrike" dirty="0">
                        <a:solidFill>
                          <a:srgbClr val="000000"/>
                        </a:solidFill>
                        <a:effectLst/>
                        <a:latin typeface="Narkisim" panose="020E0502050101010101" pitchFamily="34" charset="-79"/>
                        <a:cs typeface="Narkisim" panose="020E0502050101010101" pitchFamily="34" charset="-79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u="none" strike="noStrike" dirty="0" err="1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בלנק</a:t>
                      </a:r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 לרר (סשה בר)</a:t>
                      </a:r>
                      <a:endParaRPr lang="he-IL" sz="6000" b="0" i="0" u="none" strike="noStrike" dirty="0">
                        <a:solidFill>
                          <a:srgbClr val="000000"/>
                        </a:solidFill>
                        <a:effectLst/>
                        <a:latin typeface="Narkisim" panose="020E0502050101010101" pitchFamily="34" charset="-79"/>
                        <a:cs typeface="Narkisim" panose="020E0502050101010101" pitchFamily="34" charset="-79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267134"/>
                  </a:ext>
                </a:extLst>
              </a:tr>
              <a:tr h="1585419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ניקוז</a:t>
                      </a:r>
                      <a:endParaRPr lang="he-IL" sz="6000" b="0" i="0" u="none" strike="noStrike" dirty="0">
                        <a:solidFill>
                          <a:srgbClr val="000000"/>
                        </a:solidFill>
                        <a:effectLst/>
                        <a:latin typeface="Narkisim" panose="020E0502050101010101" pitchFamily="34" charset="-79"/>
                        <a:cs typeface="Narkisim" panose="020E0502050101010101" pitchFamily="34" charset="-79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6000" u="none" strike="noStrike" dirty="0">
                          <a:effectLst/>
                          <a:latin typeface="Narkisim" panose="020E0502050101010101" pitchFamily="34" charset="-79"/>
                          <a:cs typeface="Narkisim" panose="020E0502050101010101" pitchFamily="34" charset="-79"/>
                        </a:rPr>
                        <a:t>יינון (יוני להב)</a:t>
                      </a:r>
                      <a:endParaRPr lang="he-IL" sz="6000" b="0" i="0" u="none" strike="noStrike" dirty="0">
                        <a:solidFill>
                          <a:srgbClr val="000000"/>
                        </a:solidFill>
                        <a:effectLst/>
                        <a:latin typeface="Narkisim" panose="020E0502050101010101" pitchFamily="34" charset="-79"/>
                        <a:cs typeface="Narkisim" panose="020E0502050101010101" pitchFamily="34" charset="-79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619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59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 txBox="1">
            <a:spLocks/>
          </p:cNvSpPr>
          <p:nvPr/>
        </p:nvSpPr>
        <p:spPr>
          <a:xfrm>
            <a:off x="17728681" y="1282304"/>
            <a:ext cx="21783012" cy="2179353"/>
          </a:xfrm>
          <a:prstGeom prst="rect">
            <a:avLst/>
          </a:prstGeom>
        </p:spPr>
        <p:txBody>
          <a:bodyPr/>
          <a:lstStyle>
            <a:lvl1pPr algn="l" defTabSz="314955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515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he-IL" sz="9600" b="1" dirty="0">
                <a:solidFill>
                  <a:schemeClr val="bg1"/>
                </a:solidFill>
                <a:latin typeface="Arie"/>
                <a:cs typeface="+mn-cs"/>
              </a:rPr>
              <a:t>עבודות מתוכננות קיץ 2023</a:t>
            </a:r>
          </a:p>
        </p:txBody>
      </p:sp>
      <p:sp>
        <p:nvSpPr>
          <p:cNvPr id="36" name="תיבת טקסט 35">
            <a:extLst>
              <a:ext uri="{FF2B5EF4-FFF2-40B4-BE49-F238E27FC236}">
                <a16:creationId xmlns:a16="http://schemas.microsoft.com/office/drawing/2014/main" id="{6A3660FA-9C2A-442F-831A-3B7DD5EEDCE9}"/>
              </a:ext>
            </a:extLst>
          </p:cNvPr>
          <p:cNvSpPr txBox="1"/>
          <p:nvPr/>
        </p:nvSpPr>
        <p:spPr>
          <a:xfrm>
            <a:off x="25136" y="3429000"/>
            <a:ext cx="39520688" cy="198926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857250" indent="-857250" algn="r" defTabSz="914400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he-IL" sz="7200" dirty="0">
                <a:solidFill>
                  <a:prstClr val="black"/>
                </a:solidFill>
                <a:latin typeface="Arial" pitchFamily="34" charset="0"/>
              </a:rPr>
              <a:t>עבודות עפר, מצעים </a:t>
            </a:r>
            <a:r>
              <a:rPr lang="he-IL" sz="7200" dirty="0" err="1">
                <a:solidFill>
                  <a:prstClr val="black"/>
                </a:solidFill>
                <a:latin typeface="Arial" pitchFamily="34" charset="0"/>
              </a:rPr>
              <a:t>ואספלטים</a:t>
            </a:r>
            <a:r>
              <a:rPr lang="he-IL" sz="7200" dirty="0">
                <a:solidFill>
                  <a:prstClr val="black"/>
                </a:solidFill>
                <a:latin typeface="Arial" pitchFamily="34" charset="0"/>
              </a:rPr>
              <a:t> להקמת דרכי גישה מתחום נתיבי איילון לתחום נחל איילון.</a:t>
            </a:r>
          </a:p>
          <a:p>
            <a:pPr marL="857250" indent="-857250" algn="r" defTabSz="914400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he-IL" sz="7200" dirty="0">
                <a:solidFill>
                  <a:prstClr val="black"/>
                </a:solidFill>
                <a:latin typeface="Arial" pitchFamily="34" charset="0"/>
              </a:rPr>
              <a:t>הקמת ותחזוקת סכר בראש ציפור.</a:t>
            </a:r>
          </a:p>
          <a:p>
            <a:pPr marL="857250" indent="-857250" algn="r" defTabSz="914400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he-IL" sz="7200" dirty="0">
                <a:solidFill>
                  <a:prstClr val="black"/>
                </a:solidFill>
                <a:latin typeface="Arial" pitchFamily="34" charset="0"/>
              </a:rPr>
              <a:t>שטח התארגנות והסדרי תנועה.</a:t>
            </a:r>
          </a:p>
          <a:p>
            <a:pPr marL="857250" indent="-857250" algn="r" defTabSz="914400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he-IL" sz="7200" dirty="0">
                <a:solidFill>
                  <a:prstClr val="black"/>
                </a:solidFill>
                <a:latin typeface="Arial" pitchFamily="34" charset="0"/>
              </a:rPr>
              <a:t>קידוח כלונסאות בתחום נחל איילון – ללא שינוי בחתך הנחל.</a:t>
            </a:r>
          </a:p>
          <a:p>
            <a:pPr marL="857250" indent="-857250" algn="r" defTabSz="914400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he-IL" sz="7200" dirty="0">
              <a:solidFill>
                <a:prstClr val="black"/>
              </a:solidFill>
              <a:latin typeface="Arial" pitchFamily="34" charset="0"/>
            </a:endParaRPr>
          </a:p>
          <a:p>
            <a:pPr marL="857250" indent="-857250" algn="r" defTabSz="914400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he-IL" sz="7200" b="1" u="sng" dirty="0">
                <a:solidFill>
                  <a:prstClr val="black"/>
                </a:solidFill>
                <a:latin typeface="David" panose="020E0502060401010101" pitchFamily="34" charset="-79"/>
                <a:ea typeface="Calibri" panose="020F0502020204030204" pitchFamily="34" charset="0"/>
              </a:rPr>
              <a:t>אלמנטים עיקריים</a:t>
            </a:r>
            <a:r>
              <a:rPr lang="he-IL" sz="9600" b="1" u="sng" dirty="0">
                <a:solidFill>
                  <a:prstClr val="black"/>
                </a:solidFill>
                <a:latin typeface="David" panose="020E0502060401010101" pitchFamily="34" charset="-79"/>
                <a:ea typeface="Calibri" panose="020F0502020204030204" pitchFamily="34" charset="0"/>
              </a:rPr>
              <a:t>:</a:t>
            </a:r>
          </a:p>
          <a:p>
            <a:pPr marL="857250" indent="-857250" algn="r" defTabSz="914400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e-IL" sz="7200" dirty="0">
                <a:solidFill>
                  <a:prstClr val="black"/>
                </a:solidFill>
                <a:latin typeface="Times New Roman" panose="02020603050405020304" pitchFamily="18" charset="0"/>
              </a:rPr>
              <a:t>קידוח כלונסאות בתחתית התעלה - בצמוד לדופן הרכבת ובמרכז התעלה.</a:t>
            </a:r>
          </a:p>
          <a:p>
            <a:pPr marL="857250" indent="-857250" algn="r" defTabSz="914400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e-IL" sz="7200" dirty="0">
                <a:solidFill>
                  <a:prstClr val="black"/>
                </a:solidFill>
                <a:latin typeface="Times New Roman" panose="02020603050405020304" pitchFamily="18" charset="0"/>
              </a:rPr>
              <a:t>קידוח כלונסאות מזרחית לנישת ההגנה.</a:t>
            </a:r>
          </a:p>
          <a:p>
            <a:pPr marL="857250" indent="-857250" algn="r" defTabSz="914400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e-IL" sz="7200" dirty="0">
                <a:solidFill>
                  <a:prstClr val="black"/>
                </a:solidFill>
                <a:latin typeface="Times New Roman" panose="02020603050405020304" pitchFamily="18" charset="0"/>
              </a:rPr>
              <a:t>הנמכת רצפה בצד הדרומי של נישת ההגנה.</a:t>
            </a:r>
          </a:p>
          <a:p>
            <a:pPr marL="857250" indent="-857250" algn="r" defTabSz="914400" rt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e-IL" sz="7200" dirty="0">
                <a:solidFill>
                  <a:prstClr val="black"/>
                </a:solidFill>
                <a:latin typeface="Arial" pitchFamily="34" charset="0"/>
              </a:rPr>
              <a:t>ניקיון תעלה באזור העבודות ובמקטעים שתואמו מול רשות ניקוז.</a:t>
            </a:r>
            <a:endParaRPr lang="en-US" sz="7200" dirty="0">
              <a:solidFill>
                <a:prstClr val="black"/>
              </a:solidFill>
              <a:latin typeface="Arial" pitchFamily="34" charset="0"/>
            </a:endParaRPr>
          </a:p>
          <a:p>
            <a:pPr marL="285750" indent="-285750" algn="r" defTabSz="914400" rt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7200" dirty="0">
              <a:solidFill>
                <a:prstClr val="black"/>
              </a:solidFill>
              <a:latin typeface="Arial" pitchFamily="34" charset="0"/>
            </a:endParaRPr>
          </a:p>
          <a:p>
            <a:pPr marL="285750" indent="-285750" algn="r" defTabSz="914400" rt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he-IL" sz="72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47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D9F2A1F8-DC9C-4314-BD45-41BD995ED50C}"/>
              </a:ext>
            </a:extLst>
          </p:cNvPr>
          <p:cNvSpPr txBox="1"/>
          <p:nvPr/>
        </p:nvSpPr>
        <p:spPr>
          <a:xfrm flipH="1">
            <a:off x="20768469" y="1012404"/>
            <a:ext cx="19126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9600" b="1" dirty="0">
                <a:solidFill>
                  <a:schemeClr val="bg1"/>
                </a:solidFill>
                <a:latin typeface="Arie"/>
                <a:ea typeface="+mj-ea"/>
              </a:rPr>
              <a:t>תצ"א כללית- עבודות קיץ 2023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9EEEA23A-65F6-E92A-9336-67A8AEF71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668" y="3200400"/>
            <a:ext cx="41977469" cy="1783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907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FBC6E80-DB93-43E0-A479-FD4669608115}"/>
              </a:ext>
            </a:extLst>
          </p:cNvPr>
          <p:cNvSpPr txBox="1"/>
          <p:nvPr/>
        </p:nvSpPr>
        <p:spPr>
          <a:xfrm>
            <a:off x="9338469" y="914400"/>
            <a:ext cx="300624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9600" b="1" dirty="0">
                <a:solidFill>
                  <a:schemeClr val="bg1"/>
                </a:solidFill>
                <a:latin typeface="Arie"/>
                <a:ea typeface="+mj-ea"/>
              </a:rPr>
              <a:t>הקמת סכר בראש ציפור (מחוץ לגבולות תת"ל 33)</a:t>
            </a: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20B36C9A-079D-4A22-A859-F62FD152E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918" y="3657600"/>
            <a:ext cx="16755351" cy="8484742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2487A3BB-EEF5-454D-B369-3B93CBB5C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33" y="12276444"/>
            <a:ext cx="16773036" cy="8966781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616023D4-6517-4227-9162-CF0B41901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39669" y="2971800"/>
            <a:ext cx="23050819" cy="19993674"/>
          </a:xfrm>
          <a:prstGeom prst="rect">
            <a:avLst/>
          </a:prstGeom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D8FA0FE9-8172-43ED-B6D8-74607E905498}"/>
              </a:ext>
            </a:extLst>
          </p:cNvPr>
          <p:cNvSpPr txBox="1"/>
          <p:nvPr/>
        </p:nvSpPr>
        <p:spPr>
          <a:xfrm>
            <a:off x="28312269" y="3276600"/>
            <a:ext cx="12869151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lvl="1" indent="0" algn="r">
              <a:buNone/>
              <a:defRPr/>
            </a:pPr>
            <a:r>
              <a:rPr lang="he-IL" altLang="he-IL" sz="6600" b="1" dirty="0">
                <a:latin typeface="David" panose="020E0502060401010101" pitchFamily="34" charset="-79"/>
              </a:rPr>
              <a:t>במסגרת  הקמת סכר 'ראש ציפור' לכניסה לתעלה מהצד הצפוני. העבודות להקמת הסכר הצפוני יכללו:</a:t>
            </a:r>
          </a:p>
          <a:p>
            <a:pPr marL="857250" lvl="1" indent="-857250" algn="r" rtl="1">
              <a:buFont typeface="Arial" panose="020B0604020202020204" pitchFamily="34" charset="0"/>
              <a:buChar char="•"/>
              <a:defRPr/>
            </a:pPr>
            <a:r>
              <a:rPr lang="he-IL" altLang="he-IL" sz="6600" b="1" dirty="0">
                <a:latin typeface="David" panose="020E0502060401010101" pitchFamily="34" charset="-79"/>
              </a:rPr>
              <a:t>הכשרת שטח התארגנות</a:t>
            </a:r>
          </a:p>
          <a:p>
            <a:pPr marL="857250" indent="-857250" algn="r" rtl="1">
              <a:buFont typeface="Arial" panose="020B0604020202020204" pitchFamily="34" charset="0"/>
              <a:buChar char="•"/>
              <a:defRPr/>
            </a:pPr>
            <a:r>
              <a:rPr lang="he-IL" altLang="he-IL" sz="6600" b="1" dirty="0">
                <a:latin typeface="David" panose="020E0502060401010101" pitchFamily="34" charset="-79"/>
              </a:rPr>
              <a:t>הקמת הסכר</a:t>
            </a:r>
          </a:p>
          <a:p>
            <a:pPr marL="857250" indent="-857250" algn="r" rtl="1">
              <a:buFont typeface="Arial" panose="020B0604020202020204" pitchFamily="34" charset="0"/>
              <a:buChar char="•"/>
              <a:defRPr/>
            </a:pPr>
            <a:r>
              <a:rPr lang="he-IL" altLang="he-IL" sz="6600" b="1" dirty="0">
                <a:latin typeface="David" panose="020E0502060401010101" pitchFamily="34" charset="-79"/>
              </a:rPr>
              <a:t>שאיבת מים בקטע עד תחנת השלום </a:t>
            </a:r>
          </a:p>
          <a:p>
            <a:pPr marL="857250" indent="-857250" algn="r" rtl="1">
              <a:buFont typeface="Arial" panose="020B0604020202020204" pitchFamily="34" charset="0"/>
              <a:buChar char="•"/>
              <a:defRPr/>
            </a:pPr>
            <a:r>
              <a:rPr lang="he-IL" altLang="he-IL" sz="6600" b="1" dirty="0">
                <a:latin typeface="David" panose="020E0502060401010101" pitchFamily="34" charset="-79"/>
              </a:rPr>
              <a:t>פינוי הדגים</a:t>
            </a:r>
          </a:p>
        </p:txBody>
      </p:sp>
    </p:spTree>
    <p:extLst>
      <p:ext uri="{BB962C8B-B14F-4D97-AF65-F5344CB8AC3E}">
        <p14:creationId xmlns:p14="http://schemas.microsoft.com/office/powerpoint/2010/main" val="3694507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תמונה 7">
            <a:extLst>
              <a:ext uri="{FF2B5EF4-FFF2-40B4-BE49-F238E27FC236}">
                <a16:creationId xmlns:a16="http://schemas.microsoft.com/office/drawing/2014/main" id="{0BF30CDC-E05A-4C49-826A-7DA8ADD7C30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3189" y="3239723"/>
            <a:ext cx="41969151" cy="1807677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בועת דיבור: אליפסה 8">
            <a:extLst>
              <a:ext uri="{FF2B5EF4-FFF2-40B4-BE49-F238E27FC236}">
                <a16:creationId xmlns:a16="http://schemas.microsoft.com/office/drawing/2014/main" id="{37B6A022-5930-4910-A49F-F1D46C028FF0}"/>
              </a:ext>
            </a:extLst>
          </p:cNvPr>
          <p:cNvSpPr/>
          <p:nvPr/>
        </p:nvSpPr>
        <p:spPr>
          <a:xfrm rot="11272031" flipV="1">
            <a:off x="8320538" y="3581368"/>
            <a:ext cx="8853927" cy="5083144"/>
          </a:xfrm>
          <a:prstGeom prst="wedgeEllipseCallout">
            <a:avLst>
              <a:gd name="adj1" fmla="val -112025"/>
              <a:gd name="adj2" fmla="val -29551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7200" dirty="0"/>
              <a:t>שטחי התארגנות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10D16EEA-5952-4A01-99FE-3DF2BF6125C5}"/>
              </a:ext>
            </a:extLst>
          </p:cNvPr>
          <p:cNvSpPr/>
          <p:nvPr/>
        </p:nvSpPr>
        <p:spPr>
          <a:xfrm rot="1890587">
            <a:off x="21312411" y="4838706"/>
            <a:ext cx="1502917" cy="27431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בועת דיבור: אליפסה 12">
            <a:extLst>
              <a:ext uri="{FF2B5EF4-FFF2-40B4-BE49-F238E27FC236}">
                <a16:creationId xmlns:a16="http://schemas.microsoft.com/office/drawing/2014/main" id="{13201D39-AFFA-417E-AD09-6A3D0E4D4A9A}"/>
              </a:ext>
            </a:extLst>
          </p:cNvPr>
          <p:cNvSpPr/>
          <p:nvPr/>
        </p:nvSpPr>
        <p:spPr>
          <a:xfrm>
            <a:off x="12388417" y="9354133"/>
            <a:ext cx="5855705" cy="1569660"/>
          </a:xfrm>
          <a:prstGeom prst="wedgeEllipseCallout">
            <a:avLst>
              <a:gd name="adj1" fmla="val 111058"/>
              <a:gd name="adj2" fmla="val -374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מיקום סכר </a:t>
            </a:r>
          </a:p>
        </p:txBody>
      </p:sp>
      <p:sp>
        <p:nvSpPr>
          <p:cNvPr id="14" name="בועת דיבור: אליפסה 13">
            <a:extLst>
              <a:ext uri="{FF2B5EF4-FFF2-40B4-BE49-F238E27FC236}">
                <a16:creationId xmlns:a16="http://schemas.microsoft.com/office/drawing/2014/main" id="{C40019C8-8E72-4303-8A0D-08CB97728CC4}"/>
              </a:ext>
            </a:extLst>
          </p:cNvPr>
          <p:cNvSpPr/>
          <p:nvPr/>
        </p:nvSpPr>
        <p:spPr>
          <a:xfrm>
            <a:off x="34484469" y="6853387"/>
            <a:ext cx="6324600" cy="2506842"/>
          </a:xfrm>
          <a:prstGeom prst="wedgeEllipseCallout">
            <a:avLst>
              <a:gd name="adj1" fmla="val -83281"/>
              <a:gd name="adj2" fmla="val -1337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מתקן לניקוי מים</a:t>
            </a:r>
          </a:p>
        </p:txBody>
      </p:sp>
      <p:sp>
        <p:nvSpPr>
          <p:cNvPr id="15" name="בועת דיבור: אליפסה 14">
            <a:extLst>
              <a:ext uri="{FF2B5EF4-FFF2-40B4-BE49-F238E27FC236}">
                <a16:creationId xmlns:a16="http://schemas.microsoft.com/office/drawing/2014/main" id="{D4EB7E80-9110-4F00-B6F8-66A306806100}"/>
              </a:ext>
            </a:extLst>
          </p:cNvPr>
          <p:cNvSpPr/>
          <p:nvPr/>
        </p:nvSpPr>
        <p:spPr>
          <a:xfrm>
            <a:off x="30750669" y="11052935"/>
            <a:ext cx="5080113" cy="2558741"/>
          </a:xfrm>
          <a:prstGeom prst="wedgeEllipseCallout">
            <a:avLst>
              <a:gd name="adj1" fmla="val -148521"/>
              <a:gd name="adj2" fmla="val 1212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דרך גישה מרחוב חרוזים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F11EDF40-9201-4E61-BAB2-02DD7E7FA598}"/>
              </a:ext>
            </a:extLst>
          </p:cNvPr>
          <p:cNvSpPr/>
          <p:nvPr/>
        </p:nvSpPr>
        <p:spPr>
          <a:xfrm rot="2646175">
            <a:off x="27902007" y="8299104"/>
            <a:ext cx="1502917" cy="4023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D4617123-3916-4B67-B7F8-2D0442330366}"/>
              </a:ext>
            </a:extLst>
          </p:cNvPr>
          <p:cNvSpPr txBox="1"/>
          <p:nvPr/>
        </p:nvSpPr>
        <p:spPr>
          <a:xfrm>
            <a:off x="15857538" y="997379"/>
            <a:ext cx="24917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eaLnBrk="1" hangingPunct="1">
              <a:buNone/>
              <a:defRPr/>
            </a:pPr>
            <a:r>
              <a:rPr lang="he-IL" sz="9600" b="1" dirty="0">
                <a:solidFill>
                  <a:schemeClr val="bg1"/>
                </a:solidFill>
                <a:latin typeface="Arie"/>
                <a:ea typeface="+mj-ea"/>
              </a:rPr>
              <a:t>אתר התארגנות צפוני (מחוץ לתחום תת"ל 33)</a:t>
            </a:r>
          </a:p>
        </p:txBody>
      </p:sp>
    </p:spTree>
    <p:extLst>
      <p:ext uri="{BB962C8B-B14F-4D97-AF65-F5344CB8AC3E}">
        <p14:creationId xmlns:p14="http://schemas.microsoft.com/office/powerpoint/2010/main" val="2050749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D4617123-3916-4B67-B7F8-2D0442330366}"/>
              </a:ext>
            </a:extLst>
          </p:cNvPr>
          <p:cNvSpPr txBox="1"/>
          <p:nvPr/>
        </p:nvSpPr>
        <p:spPr>
          <a:xfrm>
            <a:off x="3471069" y="997379"/>
            <a:ext cx="37303869" cy="1453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2756"/>
              </a:spcAft>
            </a:pPr>
            <a:r>
              <a:rPr lang="he-IL" sz="8500" b="1" dirty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הסדר תנועה לכניסה ויציאה מתחום העבודה – קצה דרומי – מחלף קיבוץ גלויות</a:t>
            </a:r>
            <a:endParaRPr lang="he-IL" sz="8500" b="1" dirty="0">
              <a:solidFill>
                <a:schemeClr val="bg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A61D6DE0-1C5A-B1EE-FD5A-8196FA5AB15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045487"/>
            <a:ext cx="42216547" cy="1783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619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D4617123-3916-4B67-B7F8-2D0442330366}"/>
              </a:ext>
            </a:extLst>
          </p:cNvPr>
          <p:cNvSpPr txBox="1"/>
          <p:nvPr/>
        </p:nvSpPr>
        <p:spPr>
          <a:xfrm>
            <a:off x="3471069" y="997379"/>
            <a:ext cx="37303869" cy="1453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2756"/>
              </a:spcAft>
            </a:pPr>
            <a:r>
              <a:rPr lang="he-IL" sz="8500" b="1" dirty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הסדר תנועה לכניסה ויציאה מתחום העבודה – קצה צפוני – קאונטרי דקל</a:t>
            </a:r>
            <a:endParaRPr lang="he-IL" sz="8500" b="1" dirty="0">
              <a:solidFill>
                <a:schemeClr val="bg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20E0F862-60DA-6FA6-F337-26AA92297CA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497023"/>
            <a:ext cx="41994138" cy="1815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900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9">
            <a:extLst>
              <a:ext uri="{FF2B5EF4-FFF2-40B4-BE49-F238E27FC236}">
                <a16:creationId xmlns:a16="http://schemas.microsoft.com/office/drawing/2014/main" id="{D9F2A1F8-DC9C-4314-BD45-41BD995ED50C}"/>
              </a:ext>
            </a:extLst>
          </p:cNvPr>
          <p:cNvSpPr txBox="1"/>
          <p:nvPr/>
        </p:nvSpPr>
        <p:spPr>
          <a:xfrm flipH="1">
            <a:off x="4995069" y="838200"/>
            <a:ext cx="34975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9600" b="1" dirty="0">
                <a:solidFill>
                  <a:schemeClr val="bg1"/>
                </a:solidFill>
              </a:rPr>
              <a:t> קידוח כלונסאות - תמונות מקיץ 2022</a:t>
            </a:r>
            <a:endParaRPr lang="he-IL" sz="8800" b="1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0477B571-4BDC-F089-4375-2B280A44D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7469" y="4616450"/>
            <a:ext cx="12039600" cy="1605280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FEA70F45-2DE7-82EB-98D3-E230E2AA1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53569" y="4986337"/>
            <a:ext cx="11468100" cy="15628826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AA949AA1-B947-08E6-5989-183132D088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64669" y="4607983"/>
            <a:ext cx="11468100" cy="1542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41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EDBE24E7-C2CC-B439-1379-F1ABC35DC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52669" y="3352800"/>
            <a:ext cx="14135100" cy="19354800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721DEB85-C6B4-F9D8-3810-F77BA7514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21269" y="3352799"/>
            <a:ext cx="14935200" cy="19354801"/>
          </a:xfrm>
          <a:prstGeom prst="rect">
            <a:avLst/>
          </a:prstGeom>
        </p:spPr>
      </p:pic>
      <p:sp>
        <p:nvSpPr>
          <p:cNvPr id="6" name="תיבת טקסט 29">
            <a:extLst>
              <a:ext uri="{FF2B5EF4-FFF2-40B4-BE49-F238E27FC236}">
                <a16:creationId xmlns:a16="http://schemas.microsoft.com/office/drawing/2014/main" id="{FEC2FE9D-F013-03C7-5137-B32514373817}"/>
              </a:ext>
            </a:extLst>
          </p:cNvPr>
          <p:cNvSpPr txBox="1"/>
          <p:nvPr/>
        </p:nvSpPr>
        <p:spPr>
          <a:xfrm flipH="1">
            <a:off x="4995069" y="838200"/>
            <a:ext cx="34975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9600" b="1" dirty="0">
                <a:solidFill>
                  <a:schemeClr val="bg1"/>
                </a:solidFill>
              </a:rPr>
              <a:t> קידוח כלונסאות - תמונות מקיץ 2022</a:t>
            </a:r>
            <a:endParaRPr lang="he-IL" sz="8800" b="1" dirty="0"/>
          </a:p>
        </p:txBody>
      </p:sp>
    </p:spTree>
    <p:extLst>
      <p:ext uri="{BB962C8B-B14F-4D97-AF65-F5344CB8AC3E}">
        <p14:creationId xmlns:p14="http://schemas.microsoft.com/office/powerpoint/2010/main" val="3704320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29">
            <a:extLst>
              <a:ext uri="{FF2B5EF4-FFF2-40B4-BE49-F238E27FC236}">
                <a16:creationId xmlns:a16="http://schemas.microsoft.com/office/drawing/2014/main" id="{FEC2FE9D-F013-03C7-5137-B32514373817}"/>
              </a:ext>
            </a:extLst>
          </p:cNvPr>
          <p:cNvSpPr txBox="1"/>
          <p:nvPr/>
        </p:nvSpPr>
        <p:spPr>
          <a:xfrm flipH="1">
            <a:off x="4995069" y="838200"/>
            <a:ext cx="34975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9600" b="1" dirty="0">
                <a:solidFill>
                  <a:schemeClr val="bg1"/>
                </a:solidFill>
              </a:rPr>
              <a:t>עבודות מתוכננות קיץ 2023</a:t>
            </a:r>
            <a:endParaRPr lang="he-IL" sz="8800" b="1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9B4E3347-7327-A3C5-4528-6CE439741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069" y="3276600"/>
            <a:ext cx="34975800" cy="1787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727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3F8014FA-018D-D6F2-E0D0-D66405492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069" y="3505200"/>
            <a:ext cx="18516600" cy="20116800"/>
          </a:xfrm>
          <a:prstGeom prst="rect">
            <a:avLst/>
          </a:prstGeom>
        </p:spPr>
      </p:pic>
      <p:sp>
        <p:nvSpPr>
          <p:cNvPr id="6" name="תיבת טקסט 29">
            <a:extLst>
              <a:ext uri="{FF2B5EF4-FFF2-40B4-BE49-F238E27FC236}">
                <a16:creationId xmlns:a16="http://schemas.microsoft.com/office/drawing/2014/main" id="{FEC2FE9D-F013-03C7-5137-B32514373817}"/>
              </a:ext>
            </a:extLst>
          </p:cNvPr>
          <p:cNvSpPr txBox="1"/>
          <p:nvPr/>
        </p:nvSpPr>
        <p:spPr>
          <a:xfrm flipH="1">
            <a:off x="4995069" y="838200"/>
            <a:ext cx="34975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9600" b="1" dirty="0">
                <a:solidFill>
                  <a:schemeClr val="bg1"/>
                </a:solidFill>
              </a:rPr>
              <a:t>עבודות מתוכננות קיץ 2023 – אישור רשות הניקוז</a:t>
            </a:r>
            <a:endParaRPr lang="he-IL" sz="8800" b="1" dirty="0"/>
          </a:p>
        </p:txBody>
      </p:sp>
    </p:spTree>
    <p:extLst>
      <p:ext uri="{BB962C8B-B14F-4D97-AF65-F5344CB8AC3E}">
        <p14:creationId xmlns:p14="http://schemas.microsoft.com/office/powerpoint/2010/main" val="1515004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29">
            <a:extLst>
              <a:ext uri="{FF2B5EF4-FFF2-40B4-BE49-F238E27FC236}">
                <a16:creationId xmlns:a16="http://schemas.microsoft.com/office/drawing/2014/main" id="{FEC2FE9D-F013-03C7-5137-B32514373817}"/>
              </a:ext>
            </a:extLst>
          </p:cNvPr>
          <p:cNvSpPr txBox="1"/>
          <p:nvPr/>
        </p:nvSpPr>
        <p:spPr>
          <a:xfrm flipH="1">
            <a:off x="4995069" y="838200"/>
            <a:ext cx="34975800" cy="1558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2756"/>
              </a:spcAft>
            </a:pPr>
            <a:r>
              <a:rPr lang="he-IL" sz="9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תנוחה ומקרא (כלונסאות אמצע + צד מערב)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7CDCA7D-A392-6CC8-B0FB-01C40A6218B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869" y="2927106"/>
            <a:ext cx="39870533" cy="1818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67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29">
            <a:extLst>
              <a:ext uri="{FF2B5EF4-FFF2-40B4-BE49-F238E27FC236}">
                <a16:creationId xmlns:a16="http://schemas.microsoft.com/office/drawing/2014/main" id="{FEC2FE9D-F013-03C7-5137-B32514373817}"/>
              </a:ext>
            </a:extLst>
          </p:cNvPr>
          <p:cNvSpPr txBox="1"/>
          <p:nvPr/>
        </p:nvSpPr>
        <p:spPr>
          <a:xfrm flipH="1">
            <a:off x="2029503" y="838200"/>
            <a:ext cx="37941366" cy="1619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2756"/>
              </a:spcAft>
            </a:pPr>
            <a:r>
              <a:rPr lang="he-IL" sz="9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חתכים טיפוסיים לביצוע כלונסאות – אין שינוי בחתך הנחל</a:t>
            </a: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069" y="3200400"/>
            <a:ext cx="24765990" cy="1965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14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29">
            <a:extLst>
              <a:ext uri="{FF2B5EF4-FFF2-40B4-BE49-F238E27FC236}">
                <a16:creationId xmlns:a16="http://schemas.microsoft.com/office/drawing/2014/main" id="{FEC2FE9D-F013-03C7-5137-B32514373817}"/>
              </a:ext>
            </a:extLst>
          </p:cNvPr>
          <p:cNvSpPr txBox="1"/>
          <p:nvPr/>
        </p:nvSpPr>
        <p:spPr>
          <a:xfrm flipH="1">
            <a:off x="4995069" y="838200"/>
            <a:ext cx="34975800" cy="1558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2756"/>
              </a:spcAft>
            </a:pPr>
            <a:r>
              <a:rPr lang="he-IL" sz="9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תנוחה ומקרא (נישת ההגנה)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D0BFFE1A-57CA-D6BD-8D85-F5BBF0667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669" y="4048399"/>
            <a:ext cx="34670999" cy="1713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21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29">
            <a:extLst>
              <a:ext uri="{FF2B5EF4-FFF2-40B4-BE49-F238E27FC236}">
                <a16:creationId xmlns:a16="http://schemas.microsoft.com/office/drawing/2014/main" id="{FEC2FE9D-F013-03C7-5137-B32514373817}"/>
              </a:ext>
            </a:extLst>
          </p:cNvPr>
          <p:cNvSpPr txBox="1"/>
          <p:nvPr/>
        </p:nvSpPr>
        <p:spPr>
          <a:xfrm flipH="1">
            <a:off x="4995069" y="838200"/>
            <a:ext cx="34975800" cy="1558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2756"/>
              </a:spcAft>
            </a:pPr>
            <a:r>
              <a:rPr lang="he-IL" sz="9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חתך נישת ההגנה</a:t>
            </a: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069" y="4191000"/>
            <a:ext cx="24384000" cy="18857407"/>
          </a:xfrm>
          <a:prstGeom prst="rect">
            <a:avLst/>
          </a:prstGeom>
        </p:spPr>
      </p:pic>
      <p:sp>
        <p:nvSpPr>
          <p:cNvPr id="3" name="מלבן 2"/>
          <p:cNvSpPr/>
          <p:nvPr/>
        </p:nvSpPr>
        <p:spPr>
          <a:xfrm>
            <a:off x="20425354" y="19812000"/>
            <a:ext cx="41152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הנמכת הרצפה</a:t>
            </a:r>
          </a:p>
        </p:txBody>
      </p:sp>
      <p:sp>
        <p:nvSpPr>
          <p:cNvPr id="7" name="מלבן 6"/>
          <p:cNvSpPr/>
          <p:nvPr/>
        </p:nvSpPr>
        <p:spPr>
          <a:xfrm>
            <a:off x="2861469" y="18669000"/>
            <a:ext cx="112742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קידוח כלונסאות מתחת למפלס רצפה קיים</a:t>
            </a:r>
          </a:p>
        </p:txBody>
      </p:sp>
    </p:spTree>
    <p:extLst>
      <p:ext uri="{BB962C8B-B14F-4D97-AF65-F5344CB8AC3E}">
        <p14:creationId xmlns:p14="http://schemas.microsoft.com/office/powerpoint/2010/main" val="3881829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4FF4048E-A27D-401A-864C-366693FF18B4}"/>
              </a:ext>
            </a:extLst>
          </p:cNvPr>
          <p:cNvSpPr txBox="1"/>
          <p:nvPr/>
        </p:nvSpPr>
        <p:spPr>
          <a:xfrm>
            <a:off x="13300869" y="1066800"/>
            <a:ext cx="26060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hangingPunct="1">
              <a:defRPr/>
            </a:pPr>
            <a:r>
              <a:rPr lang="he-IL" sz="9600" b="1" dirty="0">
                <a:solidFill>
                  <a:schemeClr val="bg1"/>
                </a:solidFill>
              </a:rPr>
              <a:t>מסמכים סביבתיים מקטע איילון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DB0578D9-217A-4EB8-85D5-DFB252BB99AC}"/>
              </a:ext>
            </a:extLst>
          </p:cNvPr>
          <p:cNvSpPr txBox="1"/>
          <p:nvPr/>
        </p:nvSpPr>
        <p:spPr>
          <a:xfrm>
            <a:off x="1032669" y="3048000"/>
            <a:ext cx="40157400" cy="1948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he-IL" sz="7200" u="sng" dirty="0"/>
              <a:t>המסמך הסביבתי מתייחס לעבודות מקדימות בנחל איילון:</a:t>
            </a:r>
          </a:p>
          <a:p>
            <a:pPr marL="857250" indent="-857250" algn="r" rt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he-IL" sz="7200" dirty="0"/>
              <a:t> ניקוי נחל איילון – איסוף הדגה, איסוף בוץ הנחל.  </a:t>
            </a:r>
          </a:p>
          <a:p>
            <a:pPr marL="857250" indent="-857250" algn="r" rt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he-IL" sz="7200" dirty="0"/>
              <a:t> קידוחים לצורך הקמת הקונסטרוקציה של המבנה העליון העתידי במרכז התעלה ובצמוד לקיר הרכבת. </a:t>
            </a:r>
          </a:p>
          <a:p>
            <a:pPr marL="857250" indent="-857250" algn="r" rt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he-IL" sz="7200" dirty="0"/>
              <a:t>פירוק דופן ורצפת תעלה קיימת (הסדרת שיפועים) במקומות נקודתיים והסדרת בטון תחתית הנחל בסיום העבודות.</a:t>
            </a:r>
          </a:p>
          <a:p>
            <a:pPr algn="r">
              <a:lnSpc>
                <a:spcPct val="150000"/>
              </a:lnSpc>
            </a:pPr>
            <a:endParaRPr lang="he-IL" sz="7200" dirty="0"/>
          </a:p>
          <a:p>
            <a:pPr algn="r">
              <a:lnSpc>
                <a:spcPct val="150000"/>
              </a:lnSpc>
            </a:pPr>
            <a:r>
              <a:rPr lang="he-IL" sz="7200" dirty="0"/>
              <a:t>העבודות מבוצעות בתחום רצועת הנחל בלבד.</a:t>
            </a:r>
          </a:p>
          <a:p>
            <a:pPr algn="r">
              <a:lnSpc>
                <a:spcPct val="150000"/>
              </a:lnSpc>
            </a:pPr>
            <a:r>
              <a:rPr lang="he-IL" sz="7200" dirty="0"/>
              <a:t> </a:t>
            </a:r>
          </a:p>
          <a:p>
            <a:pPr algn="r" rtl="1">
              <a:lnSpc>
                <a:spcPct val="150000"/>
              </a:lnSpc>
            </a:pPr>
            <a:r>
              <a:rPr lang="he-IL" sz="7200" dirty="0"/>
              <a:t>המסמך הסביבתי אינו מתייחס לעבודות הקמת הסכרים ושאיבת המים מחוץ לגבולות </a:t>
            </a:r>
            <a:r>
              <a:rPr lang="he-IL" sz="7200" dirty="0" err="1"/>
              <a:t>התת"ל</a:t>
            </a:r>
            <a:r>
              <a:rPr lang="he-IL" sz="7200" dirty="0"/>
              <a:t>. מפנה למסמך נספח התייחסות לעבודות סכר צפוני המלצות סביבתיות" מסמך </a:t>
            </a:r>
            <a:r>
              <a:rPr lang="en-US" sz="7200" dirty="0"/>
              <a:t>R15020-1041 </a:t>
            </a:r>
            <a:r>
              <a:rPr lang="he-IL" sz="7200" dirty="0"/>
              <a:t> מיום 16/12/19. (אושר ע"י </a:t>
            </a:r>
            <a:r>
              <a:rPr lang="he-IL" sz="7200" dirty="0" err="1"/>
              <a:t>הות"ל</a:t>
            </a:r>
            <a:r>
              <a:rPr lang="he-IL" sz="7200" dirty="0"/>
              <a:t>). </a:t>
            </a:r>
          </a:p>
          <a:p>
            <a:pPr algn="r" rtl="1">
              <a:lnSpc>
                <a:spcPct val="150000"/>
              </a:lnSpc>
            </a:pPr>
            <a:r>
              <a:rPr lang="he-IL" sz="7200" dirty="0"/>
              <a:t>המסמך מתייחס לאתרי ההתארגנות המוצעים מחוץ לתחומי </a:t>
            </a:r>
            <a:r>
              <a:rPr lang="he-IL" sz="7200" dirty="0" err="1"/>
              <a:t>התת"ל</a:t>
            </a:r>
            <a:r>
              <a:rPr lang="he-IL" sz="7200" dirty="0"/>
              <a:t> שכן אלו ישמשו את העבודות בכללותן.</a:t>
            </a:r>
          </a:p>
          <a:p>
            <a:pPr algn="r"/>
            <a:endParaRPr lang="he-IL" sz="7200" dirty="0"/>
          </a:p>
        </p:txBody>
      </p:sp>
    </p:spTree>
    <p:extLst>
      <p:ext uri="{BB962C8B-B14F-4D97-AF65-F5344CB8AC3E}">
        <p14:creationId xmlns:p14="http://schemas.microsoft.com/office/powerpoint/2010/main" val="1582987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B6DAE8A-6AF5-43AE-B170-759A19B77A8A}"/>
              </a:ext>
            </a:extLst>
          </p:cNvPr>
          <p:cNvSpPr txBox="1"/>
          <p:nvPr/>
        </p:nvSpPr>
        <p:spPr>
          <a:xfrm>
            <a:off x="13300869" y="1066800"/>
            <a:ext cx="26060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hangingPunct="1">
              <a:defRPr/>
            </a:pPr>
            <a:r>
              <a:rPr lang="he-IL" sz="9600" b="1" dirty="0">
                <a:solidFill>
                  <a:schemeClr val="bg1"/>
                </a:solidFill>
              </a:rPr>
              <a:t>מסמכים סביבתיים מקטע איילון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BF4F15-E29A-40F6-85E3-D925DA6297A0}"/>
              </a:ext>
            </a:extLst>
          </p:cNvPr>
          <p:cNvSpPr/>
          <p:nvPr/>
        </p:nvSpPr>
        <p:spPr>
          <a:xfrm>
            <a:off x="2785269" y="3962400"/>
            <a:ext cx="37215314" cy="1661993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he-IL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 rtl="1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he-IL" altLang="en-US" sz="7200" b="1" dirty="0">
                <a:latin typeface="Calibri"/>
              </a:rPr>
              <a:t>המסמך הסביבתי מתייחס לנושאים אלו</a:t>
            </a:r>
            <a:r>
              <a:rPr lang="he-IL" altLang="en-US" sz="7200" dirty="0">
                <a:latin typeface="Calibri"/>
              </a:rPr>
              <a:t>:</a:t>
            </a:r>
          </a:p>
          <a:p>
            <a:pPr marL="941785" indent="-857250" algn="r" rtl="1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he-IL" altLang="en-US" sz="7200" dirty="0">
                <a:solidFill>
                  <a:prstClr val="black"/>
                </a:solidFill>
                <a:latin typeface="Arial" panose="020B0604020202020204" pitchFamily="34" charset="0"/>
              </a:rPr>
              <a:t>מניעת מטרדי רעש ורעידות.</a:t>
            </a:r>
          </a:p>
          <a:p>
            <a:pPr marL="941785" indent="-857250" algn="r" rtl="1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he-IL" altLang="en-US" sz="7200" dirty="0">
                <a:solidFill>
                  <a:prstClr val="black"/>
                </a:solidFill>
                <a:latin typeface="Arial" panose="020B0604020202020204" pitchFamily="34" charset="0"/>
              </a:rPr>
              <a:t>מניעת מפגעי אבק.</a:t>
            </a:r>
          </a:p>
          <a:p>
            <a:pPr marL="941785" indent="-857250" algn="r" rtl="1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he-IL" altLang="en-US" sz="7200" dirty="0">
                <a:solidFill>
                  <a:prstClr val="black"/>
                </a:solidFill>
                <a:latin typeface="Arial" panose="020B0604020202020204" pitchFamily="34" charset="0"/>
              </a:rPr>
              <a:t>טיפול בפסולת ובעודפי עפר.</a:t>
            </a:r>
          </a:p>
          <a:p>
            <a:pPr marL="941785" indent="-857250" algn="r" rtl="1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he-IL" altLang="en-US" sz="7200" dirty="0">
                <a:solidFill>
                  <a:prstClr val="black"/>
                </a:solidFill>
                <a:latin typeface="Arial" panose="020B0604020202020204" pitchFamily="34" charset="0"/>
              </a:rPr>
              <a:t>מניעת זיהום ופגיעה בנחל. </a:t>
            </a:r>
          </a:p>
          <a:p>
            <a:pPr marL="941785" indent="-857250" algn="r" rtl="1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he-IL" altLang="en-US" sz="7200" dirty="0">
                <a:solidFill>
                  <a:prstClr val="black"/>
                </a:solidFill>
                <a:latin typeface="Arial" panose="020B0604020202020204" pitchFamily="34" charset="0"/>
              </a:rPr>
              <a:t>טיפול בקרקע מזוהמת (בהתאם לסיכומים קודמים).</a:t>
            </a:r>
          </a:p>
          <a:p>
            <a:pPr marL="941785" indent="-857250" algn="r" rtl="1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he-IL" altLang="en-US" sz="7200" dirty="0">
                <a:solidFill>
                  <a:prstClr val="black"/>
                </a:solidFill>
                <a:latin typeface="Arial" panose="020B0604020202020204" pitchFamily="34" charset="0"/>
              </a:rPr>
              <a:t>מניעת מפגעים מאתרי התארגנות ודרכי הגישה.</a:t>
            </a:r>
          </a:p>
          <a:p>
            <a:pPr marL="258366" indent="-173831" algn="r" rtl="1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6600" dirty="0">
              <a:solidFill>
                <a:prstClr val="black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09964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B8823EF-6EA6-4A77-A3A5-1E39DA7CC9B8}"/>
              </a:ext>
            </a:extLst>
          </p:cNvPr>
          <p:cNvSpPr txBox="1"/>
          <p:nvPr/>
        </p:nvSpPr>
        <p:spPr>
          <a:xfrm>
            <a:off x="13300869" y="1066800"/>
            <a:ext cx="26060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hangingPunct="1">
              <a:defRPr/>
            </a:pPr>
            <a:r>
              <a:rPr lang="he-IL" sz="9600" b="1" dirty="0">
                <a:solidFill>
                  <a:schemeClr val="bg1"/>
                </a:solidFill>
              </a:rPr>
              <a:t>מסמכים סביבתיים מקטע איילון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3C31E1-FE28-4927-AF2F-37DFA9B40620}"/>
              </a:ext>
            </a:extLst>
          </p:cNvPr>
          <p:cNvSpPr/>
          <p:nvPr/>
        </p:nvSpPr>
        <p:spPr>
          <a:xfrm>
            <a:off x="0" y="3352800"/>
            <a:ext cx="40664607" cy="225908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he-IL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just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r>
              <a:rPr lang="he-IL" altLang="en-US" sz="7200" b="1" dirty="0">
                <a:latin typeface="Calibri"/>
              </a:rPr>
              <a:t>רעידות:</a:t>
            </a:r>
          </a:p>
          <a:p>
            <a:pPr algn="just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r>
              <a:rPr lang="he-IL" sz="7200" dirty="0"/>
              <a:t>כל העבודות מצויות מחוץ לטווחי ההשפעה של הרעידות. </a:t>
            </a:r>
          </a:p>
          <a:p>
            <a:pPr algn="just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endParaRPr lang="he-IL" altLang="en-US" sz="7200" b="1" dirty="0">
              <a:latin typeface="Calibri"/>
            </a:endParaRPr>
          </a:p>
          <a:p>
            <a:pPr algn="just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r>
              <a:rPr lang="he-IL" altLang="en-US" sz="7200" b="1" dirty="0">
                <a:latin typeface="Calibri"/>
              </a:rPr>
              <a:t>ניטור רעש:</a:t>
            </a:r>
          </a:p>
          <a:p>
            <a:pPr algn="just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r>
              <a:rPr lang="he-IL" sz="7200" dirty="0"/>
              <a:t>יש לערוך ניטור רעש ליד השכונות הקרובות ביותר, לפחות  פעם אחת בתחילת הקידוחים ופעם נוספת כעבור חודש.</a:t>
            </a:r>
          </a:p>
          <a:p>
            <a:pPr algn="just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endParaRPr lang="he-IL" sz="7200" dirty="0">
              <a:solidFill>
                <a:prstClr val="black"/>
              </a:solidFill>
              <a:latin typeface="Calibri"/>
            </a:endParaRPr>
          </a:p>
          <a:p>
            <a:pPr lvl="0" algn="just" defTabSz="914400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r>
              <a:rPr lang="he-IL" altLang="en-US" sz="7200" b="1" dirty="0">
                <a:solidFill>
                  <a:prstClr val="black"/>
                </a:solidFill>
                <a:latin typeface="Calibri"/>
              </a:rPr>
              <a:t>אמצעים להפחתת רעש</a:t>
            </a:r>
            <a:r>
              <a:rPr lang="en-US" altLang="en-US" sz="7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he-IL" altLang="en-US" sz="7200" dirty="0">
                <a:solidFill>
                  <a:prstClr val="black"/>
                </a:solidFill>
                <a:latin typeface="Calibri"/>
              </a:rPr>
              <a:t>:</a:t>
            </a:r>
          </a:p>
          <a:p>
            <a:pPr lvl="0" algn="just" defTabSz="914400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r>
              <a:rPr lang="he-IL" sz="7200" dirty="0">
                <a:solidFill>
                  <a:prstClr val="black"/>
                </a:solidFill>
              </a:rPr>
              <a:t>לא צפויות חריגות בתוואי העבודות – זאת כיון שהוגדר לקבלן שימוש במכונות סיבוביות בלבד.</a:t>
            </a:r>
            <a:endParaRPr lang="he-IL" sz="7200" dirty="0">
              <a:solidFill>
                <a:prstClr val="black"/>
              </a:solidFill>
              <a:latin typeface="Calibri"/>
            </a:endParaRPr>
          </a:p>
          <a:p>
            <a:pPr algn="just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endParaRPr lang="he-IL" sz="7200" b="1" dirty="0">
              <a:latin typeface="Calibri"/>
            </a:endParaRPr>
          </a:p>
          <a:p>
            <a:pPr algn="just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r>
              <a:rPr lang="he-IL" sz="7200" b="1" dirty="0">
                <a:latin typeface="Calibri"/>
              </a:rPr>
              <a:t>מניעת מפגעי אבק:</a:t>
            </a:r>
          </a:p>
          <a:p>
            <a:pPr algn="just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r>
              <a:rPr lang="he-IL" sz="7200" dirty="0">
                <a:solidFill>
                  <a:prstClr val="black"/>
                </a:solidFill>
                <a:latin typeface="Calibri"/>
              </a:rPr>
              <a:t>מכונות הקידוח יצוידו בקולטי אבק בעת ביצוע קידוחים מול אזורי מגורים. </a:t>
            </a:r>
            <a:endParaRPr lang="he-IL" sz="7200" dirty="0">
              <a:solidFill>
                <a:prstClr val="black"/>
              </a:solidFill>
              <a:latin typeface="Times New Roman" panose="02020603050405020304" pitchFamily="18" charset="0"/>
              <a:cs typeface="David" panose="020E0502060401010101" pitchFamily="34" charset="-79"/>
            </a:endParaRPr>
          </a:p>
          <a:p>
            <a:pPr algn="just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endParaRPr lang="he-IL" sz="7200" dirty="0">
              <a:solidFill>
                <a:prstClr val="black"/>
              </a:solidFill>
              <a:latin typeface="Times New Roman" panose="02020603050405020304" pitchFamily="18" charset="0"/>
              <a:cs typeface="David" panose="020E0502060401010101" pitchFamily="34" charset="-79"/>
            </a:endParaRPr>
          </a:p>
          <a:p>
            <a:pPr algn="r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r>
              <a:rPr lang="he-IL" sz="7200" b="1" dirty="0">
                <a:latin typeface="Calibri"/>
              </a:rPr>
              <a:t>מניעת זיהום ופגיעה בנחל :</a:t>
            </a:r>
          </a:p>
          <a:p>
            <a:pPr algn="r" rtl="1">
              <a:defRPr/>
            </a:pPr>
            <a:r>
              <a:rPr lang="he-IL" sz="7200" dirty="0"/>
              <a:t>המסמך הסביבתי מתייחס לנושאי מניעת פגיעה בנחל תוך מתן הנחיות בנושא כולל טיפול בפסולת וייבוש הבוצה בתחום הנחל ופינויו לאתרים מאושרים.</a:t>
            </a:r>
          </a:p>
          <a:p>
            <a:pPr marL="214313" lvl="0" indent="-214313" algn="r" rtl="1" eaLnBrk="1" fontAlgn="auto" hangingPunct="1">
              <a:spcBef>
                <a:spcPts val="150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endParaRPr lang="he-IL" sz="7200" dirty="0"/>
          </a:p>
          <a:p>
            <a:pPr algn="r" rtl="1"/>
            <a:r>
              <a:rPr lang="he-IL" sz="7200" dirty="0"/>
              <a:t> כל העבודות בתחום הנחל יתואמו עם רשות הנחל ורשות ניקוז ירקון. </a:t>
            </a:r>
            <a:endParaRPr lang="en-US" sz="7200" dirty="0"/>
          </a:p>
          <a:p>
            <a:pPr algn="just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endParaRPr lang="en-US" sz="6600" dirty="0">
              <a:solidFill>
                <a:prstClr val="black"/>
              </a:solidFill>
              <a:latin typeface="Times New Roman" panose="02020603050405020304" pitchFamily="18" charset="0"/>
              <a:cs typeface="David" panose="020E0502060401010101" pitchFamily="34" charset="-79"/>
            </a:endParaRPr>
          </a:p>
          <a:p>
            <a:pPr algn="just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endParaRPr lang="en-US" sz="6600" dirty="0">
              <a:solidFill>
                <a:prstClr val="black"/>
              </a:solidFill>
              <a:latin typeface="Calibri"/>
              <a:cs typeface="+mn-cs"/>
            </a:endParaRPr>
          </a:p>
          <a:p>
            <a:pPr algn="just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endParaRPr lang="he-IL" altLang="en-US" sz="66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0462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D7B3AD6B-B04A-4455-809A-3DF713A79F6B}"/>
              </a:ext>
            </a:extLst>
          </p:cNvPr>
          <p:cNvSpPr txBox="1"/>
          <p:nvPr/>
        </p:nvSpPr>
        <p:spPr>
          <a:xfrm>
            <a:off x="13300869" y="1066800"/>
            <a:ext cx="25908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hangingPunct="1">
              <a:defRPr/>
            </a:pPr>
            <a:r>
              <a:rPr lang="he-IL" sz="9600" b="1" dirty="0">
                <a:solidFill>
                  <a:schemeClr val="bg1"/>
                </a:solidFill>
              </a:rPr>
              <a:t>מסמכים סביבתיים מקטע איילון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A2620D-FFBD-4CD7-BDA5-61400F4F7D96}"/>
              </a:ext>
            </a:extLst>
          </p:cNvPr>
          <p:cNvSpPr/>
          <p:nvPr/>
        </p:nvSpPr>
        <p:spPr>
          <a:xfrm>
            <a:off x="1185069" y="3810000"/>
            <a:ext cx="40152983" cy="1807417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he-IL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defRPr/>
            </a:pPr>
            <a:r>
              <a:rPr lang="he-IL" sz="7200" b="1" dirty="0">
                <a:latin typeface="Calibri"/>
              </a:rPr>
              <a:t>טיפול בקרקע מזוהמת:</a:t>
            </a:r>
            <a:endParaRPr lang="en-US" sz="7200" b="1" dirty="0">
              <a:latin typeface="Calibri"/>
              <a:cs typeface="+mn-cs"/>
            </a:endParaRPr>
          </a:p>
          <a:p>
            <a:pPr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defRPr/>
            </a:pPr>
            <a:r>
              <a:rPr lang="he-IL" sz="7200" dirty="0">
                <a:solidFill>
                  <a:prstClr val="black"/>
                </a:solidFill>
                <a:latin typeface="Calibri"/>
              </a:rPr>
              <a:t>בוץ הנחל שיוערם במהלך ניקוי תעלת הנחל, החשוד אף הוא בזיהום, יידגם בשטח. </a:t>
            </a:r>
          </a:p>
          <a:p>
            <a:pPr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defRPr/>
            </a:pPr>
            <a:r>
              <a:rPr lang="he-IL" sz="7200" dirty="0">
                <a:solidFill>
                  <a:prstClr val="black"/>
                </a:solidFill>
                <a:latin typeface="Calibri"/>
              </a:rPr>
              <a:t>במידה ויתגלה זיהום תועבר הבוצה לאחר ייבושה לאתר סילוק מאושר בהתאם להנחיות המשרד </a:t>
            </a:r>
            <a:r>
              <a:rPr lang="he-IL" sz="7200" dirty="0" err="1">
                <a:solidFill>
                  <a:prstClr val="black"/>
                </a:solidFill>
                <a:latin typeface="Calibri"/>
              </a:rPr>
              <a:t>להג"ס</a:t>
            </a:r>
            <a:r>
              <a:rPr lang="he-IL" sz="7200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defRPr/>
            </a:pPr>
            <a:r>
              <a:rPr lang="he-IL" sz="7200" b="1" dirty="0">
                <a:latin typeface="Calibri"/>
              </a:rPr>
              <a:t>מניעת מפגעים מאתר ההתארגנות ודרכי הגישה (דגשים מיוחדים):</a:t>
            </a:r>
          </a:p>
          <a:p>
            <a:pPr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defRPr/>
            </a:pPr>
            <a:r>
              <a:rPr lang="he-IL" sz="7200" dirty="0"/>
              <a:t>אתרים אלו סמוכים לשטחים פתוחים ולרצועת הנחל ומחוץ לגבולות תת"ל 33. </a:t>
            </a:r>
          </a:p>
          <a:p>
            <a:pPr marL="214313" lvl="0" indent="-214313"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he-IL" sz="7200" dirty="0">
                <a:solidFill>
                  <a:prstClr val="black"/>
                </a:solidFill>
                <a:latin typeface="Calibri"/>
              </a:rPr>
              <a:t>תוצב גדר פח אטומה בגובה של 2 מטר סביב אתרי ההתארגנות למניעת פגיעה בשטחים פתוחים סמוכים.  </a:t>
            </a:r>
            <a:endParaRPr lang="en-US" sz="7200" dirty="0">
              <a:solidFill>
                <a:prstClr val="black"/>
              </a:solidFill>
              <a:latin typeface="Calibri"/>
            </a:endParaRPr>
          </a:p>
          <a:p>
            <a:pPr marL="214313" lvl="0" indent="-214313"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he-IL" sz="7200" dirty="0">
                <a:solidFill>
                  <a:prstClr val="black"/>
                </a:solidFill>
                <a:latin typeface="Calibri"/>
              </a:rPr>
              <a:t>לא יוצבו מערכות מרעישות בסמיכות לאזורי מגורים. </a:t>
            </a:r>
            <a:endParaRPr lang="en-US" sz="7200" dirty="0">
              <a:solidFill>
                <a:prstClr val="black"/>
              </a:solidFill>
              <a:latin typeface="Calibri"/>
            </a:endParaRPr>
          </a:p>
          <a:p>
            <a:pPr marL="214313" lvl="0" indent="-214313"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he-IL" sz="7200" dirty="0">
                <a:solidFill>
                  <a:prstClr val="black"/>
                </a:solidFill>
                <a:latin typeface="Calibri"/>
              </a:rPr>
              <a:t>יש להבטיח מניעת זרימת נגר מזוהם מהאתרים אל ערוץ הנחל. </a:t>
            </a:r>
          </a:p>
          <a:p>
            <a:pPr marL="214313" lvl="0" indent="-214313"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he-IL" sz="7200" dirty="0">
                <a:solidFill>
                  <a:prstClr val="black"/>
                </a:solidFill>
                <a:latin typeface="Calibri"/>
              </a:rPr>
              <a:t>אזור אופציונלי לעירום בוץ הנחל (במידה וייערם מחוץ לשטח התעלה </a:t>
            </a:r>
            <a:r>
              <a:rPr lang="he-IL" sz="7200" dirty="0" err="1">
                <a:solidFill>
                  <a:prstClr val="black"/>
                </a:solidFill>
                <a:latin typeface="Calibri"/>
              </a:rPr>
              <a:t>המדופן</a:t>
            </a:r>
            <a:r>
              <a:rPr lang="he-IL" sz="7200" dirty="0">
                <a:solidFill>
                  <a:prstClr val="black"/>
                </a:solidFill>
                <a:latin typeface="Calibri"/>
              </a:rPr>
              <a:t>) ייאטם באמצעות יריעה אטומה למניעת חלחול לקרקע. </a:t>
            </a:r>
            <a:endParaRPr lang="en-US" sz="7200" dirty="0">
              <a:solidFill>
                <a:prstClr val="black"/>
              </a:solidFill>
              <a:latin typeface="Calibri"/>
            </a:endParaRPr>
          </a:p>
          <a:p>
            <a:pPr algn="just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endParaRPr lang="he-IL" sz="6600" b="1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3124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6618C301-B8E0-4A04-AF72-4A7A45577DEF}"/>
              </a:ext>
            </a:extLst>
          </p:cNvPr>
          <p:cNvSpPr txBox="1"/>
          <p:nvPr/>
        </p:nvSpPr>
        <p:spPr>
          <a:xfrm>
            <a:off x="13300869" y="1066800"/>
            <a:ext cx="25908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hangingPunct="1">
              <a:defRPr/>
            </a:pPr>
            <a:r>
              <a:rPr lang="he-IL" sz="9600" b="1" dirty="0">
                <a:solidFill>
                  <a:schemeClr val="bg1"/>
                </a:solidFill>
              </a:rPr>
              <a:t>מסמכים סביבתיים מקטע איילון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D0C95A-D6B7-472B-A3C5-8A1CB5875365}"/>
              </a:ext>
            </a:extLst>
          </p:cNvPr>
          <p:cNvSpPr/>
          <p:nvPr/>
        </p:nvSpPr>
        <p:spPr>
          <a:xfrm>
            <a:off x="804069" y="3048000"/>
            <a:ext cx="39700200" cy="2086725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he-IL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defRPr/>
            </a:pPr>
            <a:r>
              <a:rPr lang="he-IL" sz="7200" b="1" dirty="0">
                <a:latin typeface="Calibri"/>
              </a:rPr>
              <a:t>מניעת מפגעים מאתר ההתארגנות ודרכי הגישה (רעש ואיכות אוויר):</a:t>
            </a:r>
          </a:p>
          <a:p>
            <a:pPr marL="214313" indent="-214313"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he-IL" sz="7200" dirty="0">
                <a:solidFill>
                  <a:prstClr val="black"/>
                </a:solidFill>
                <a:latin typeface="Calibri"/>
              </a:rPr>
              <a:t>תנועת המשאיות תותר רק בין השעות 07:00 בבוקר עד 19:00 בערב על פי הנדרש בחוק. </a:t>
            </a:r>
            <a:endParaRPr lang="en-US" sz="7200" dirty="0">
              <a:solidFill>
                <a:prstClr val="black"/>
              </a:solidFill>
              <a:latin typeface="Calibri"/>
            </a:endParaRPr>
          </a:p>
          <a:p>
            <a:pPr marL="214313" indent="-214313"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he-IL" sz="7200" dirty="0">
                <a:solidFill>
                  <a:prstClr val="black"/>
                </a:solidFill>
                <a:latin typeface="Calibri"/>
              </a:rPr>
              <a:t>אם מתוכננים מבצעים מיוחדים, ניתן יהיה להאריך את משך הזמן לעיל לשעה 22:00.</a:t>
            </a:r>
            <a:endParaRPr lang="en-US" sz="7200" dirty="0">
              <a:solidFill>
                <a:prstClr val="black"/>
              </a:solidFill>
              <a:latin typeface="Calibri"/>
            </a:endParaRPr>
          </a:p>
          <a:p>
            <a:pPr marL="214313" indent="-214313"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he-IL" sz="7200" dirty="0">
                <a:solidFill>
                  <a:prstClr val="black"/>
                </a:solidFill>
                <a:latin typeface="Calibri"/>
              </a:rPr>
              <a:t>אין לעשות כל שימוש בצופר אלא בשעת חשש לקיום סכנה בטיחותית </a:t>
            </a:r>
            <a:r>
              <a:rPr lang="he-IL" sz="7200" dirty="0" err="1">
                <a:solidFill>
                  <a:prstClr val="black"/>
                </a:solidFill>
                <a:latin typeface="Calibri"/>
              </a:rPr>
              <a:t>אמיתית</a:t>
            </a:r>
            <a:r>
              <a:rPr lang="he-IL" sz="7200" dirty="0">
                <a:solidFill>
                  <a:prstClr val="black"/>
                </a:solidFill>
                <a:latin typeface="Calibri"/>
              </a:rPr>
              <a:t>. </a:t>
            </a:r>
          </a:p>
          <a:p>
            <a:pPr marL="214313" indent="-214313"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he-IL" sz="7200" dirty="0">
                <a:solidFill>
                  <a:prstClr val="black"/>
                </a:solidFill>
                <a:latin typeface="Calibri"/>
              </a:rPr>
              <a:t>כיסוי משאיות באזור ההתארגנות ובטרם עליה על כבישים עירוניים. </a:t>
            </a:r>
          </a:p>
          <a:p>
            <a:pPr marL="214313" indent="-214313"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he-IL" sz="7200" dirty="0">
                <a:solidFill>
                  <a:prstClr val="black"/>
                </a:solidFill>
                <a:latin typeface="Calibri"/>
              </a:rPr>
              <a:t>שטיפת גלגלי המשאיות טרם עלייתם לכבישים עירוניים. </a:t>
            </a:r>
          </a:p>
          <a:p>
            <a:pPr marL="214313" indent="-214313"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he-IL" sz="7200" dirty="0">
                <a:solidFill>
                  <a:prstClr val="black"/>
                </a:solidFill>
                <a:latin typeface="Calibri"/>
              </a:rPr>
              <a:t>הרטבת אזורי עפר ודרכי הגישה לפחות פעמיים ביום בעונת הקיץ.</a:t>
            </a:r>
          </a:p>
          <a:p>
            <a:pPr marL="214313" indent="-214313"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he-IL" sz="7200" dirty="0">
                <a:solidFill>
                  <a:prstClr val="black"/>
                </a:solidFill>
                <a:latin typeface="Calibri"/>
              </a:rPr>
              <a:t>מהירות הנסיעה בדרכי הגישה  תוגבל ל-25 קמ"ש. </a:t>
            </a:r>
          </a:p>
          <a:p>
            <a:pPr marL="214313" lvl="0" indent="-214313"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he-IL" sz="7200" dirty="0">
                <a:solidFill>
                  <a:prstClr val="black"/>
                </a:solidFill>
                <a:latin typeface="Calibri"/>
              </a:rPr>
              <a:t>חניית כלי רכב וציוד הנדסי שלא בשעות העבודה תהיה בתחום מגודר בלבד.</a:t>
            </a:r>
            <a:endParaRPr lang="en-US" sz="7200" dirty="0">
              <a:solidFill>
                <a:prstClr val="black"/>
              </a:solidFill>
              <a:latin typeface="Calibri"/>
            </a:endParaRPr>
          </a:p>
          <a:p>
            <a:pPr marL="214313" lvl="0" indent="-214313"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he-IL" sz="7200" dirty="0">
                <a:solidFill>
                  <a:prstClr val="black"/>
                </a:solidFill>
                <a:latin typeface="Calibri"/>
              </a:rPr>
              <a:t>כל מרכיבי המחנה והציוד , </a:t>
            </a:r>
            <a:r>
              <a:rPr lang="he-IL" sz="7200" dirty="0" err="1">
                <a:solidFill>
                  <a:prstClr val="black"/>
                </a:solidFill>
                <a:latin typeface="Calibri"/>
              </a:rPr>
              <a:t>מאצרות</a:t>
            </a:r>
            <a:r>
              <a:rPr lang="he-IL" sz="7200" dirty="0">
                <a:solidFill>
                  <a:prstClr val="black"/>
                </a:solidFill>
                <a:latin typeface="Calibri"/>
              </a:rPr>
              <a:t> פחי אשפה וערימות פסולת לסילוק יהיו בתוך השטח המגודר. </a:t>
            </a:r>
            <a:endParaRPr lang="en-US" sz="7200" dirty="0">
              <a:solidFill>
                <a:prstClr val="black"/>
              </a:solidFill>
              <a:latin typeface="Calibri"/>
            </a:endParaRPr>
          </a:p>
          <a:p>
            <a:pPr marL="214313" lvl="0" indent="-214313" algn="just" rtl="1" eaLnBrk="1" fontAlgn="auto" hangingPunct="1">
              <a:lnSpc>
                <a:spcPct val="150000"/>
              </a:lnSpc>
              <a:spcBef>
                <a:spcPts val="150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he-IL" sz="7200" dirty="0">
                <a:solidFill>
                  <a:prstClr val="black"/>
                </a:solidFill>
                <a:latin typeface="Calibri"/>
              </a:rPr>
              <a:t>לא יותר אחסון מחוץ לתחום המגודר.</a:t>
            </a:r>
            <a:endParaRPr lang="en-US" sz="7200" dirty="0">
              <a:solidFill>
                <a:prstClr val="black"/>
              </a:solidFill>
              <a:latin typeface="Calibri"/>
            </a:endParaRPr>
          </a:p>
          <a:p>
            <a:pPr marL="214313" indent="-214313" algn="just" rtl="1" eaLnBrk="1" fontAlgn="auto" hangingPunct="1">
              <a:spcBef>
                <a:spcPts val="150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endParaRPr lang="he-IL" sz="6600" dirty="0">
              <a:solidFill>
                <a:prstClr val="black"/>
              </a:solidFill>
              <a:latin typeface="Calibri"/>
            </a:endParaRPr>
          </a:p>
          <a:p>
            <a:pPr algn="just" rtl="1" eaLnBrk="1" fontAlgn="auto" hangingPunct="1">
              <a:spcBef>
                <a:spcPts val="150"/>
              </a:spcBef>
              <a:spcAft>
                <a:spcPts val="75"/>
              </a:spcAft>
              <a:defRPr/>
            </a:pPr>
            <a:endParaRPr lang="he-IL" altLang="en-US" sz="66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9632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9351E6AC-D182-4A1B-9459-D5200D2E147D}"/>
              </a:ext>
            </a:extLst>
          </p:cNvPr>
          <p:cNvSpPr txBox="1"/>
          <p:nvPr/>
        </p:nvSpPr>
        <p:spPr>
          <a:xfrm>
            <a:off x="19092069" y="990600"/>
            <a:ext cx="209946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9600" b="1" dirty="0">
                <a:solidFill>
                  <a:schemeClr val="bg1"/>
                </a:solidFill>
              </a:rPr>
              <a:t>לוח זמנים עבודות מתוכננות קיץ 2023</a:t>
            </a:r>
            <a:endParaRPr lang="he-IL" sz="8800" b="1" dirty="0"/>
          </a:p>
        </p:txBody>
      </p:sp>
      <p:sp>
        <p:nvSpPr>
          <p:cNvPr id="6" name="מציין מיקום טקסט 9">
            <a:extLst>
              <a:ext uri="{FF2B5EF4-FFF2-40B4-BE49-F238E27FC236}">
                <a16:creationId xmlns:a16="http://schemas.microsoft.com/office/drawing/2014/main" id="{5B3ADE19-C33F-40FE-A12A-CD0B4F529637}"/>
              </a:ext>
            </a:extLst>
          </p:cNvPr>
          <p:cNvSpPr txBox="1">
            <a:spLocks/>
          </p:cNvSpPr>
          <p:nvPr/>
        </p:nvSpPr>
        <p:spPr>
          <a:xfrm>
            <a:off x="1187494" y="4419600"/>
            <a:ext cx="39619150" cy="13645480"/>
          </a:xfrm>
          <a:prstGeom prst="rect">
            <a:avLst/>
          </a:prstGeom>
        </p:spPr>
        <p:txBody>
          <a:bodyPr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kern="1200">
                <a:solidFill>
                  <a:srgbClr val="51525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1600" kern="1200">
                <a:solidFill>
                  <a:srgbClr val="51525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rgbClr val="51525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1200" kern="1200">
                <a:solidFill>
                  <a:srgbClr val="51525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1200" kern="1200">
                <a:solidFill>
                  <a:srgbClr val="51525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lvl="1" indent="0" algn="just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he-IL" sz="8000" b="1" u="sng" dirty="0">
                <a:solidFill>
                  <a:schemeClr val="tx1"/>
                </a:solidFill>
              </a:rPr>
              <a:t>עקרונות לוחות הזמנים:</a:t>
            </a:r>
          </a:p>
          <a:p>
            <a:pPr marL="525463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he-IL" sz="8500" dirty="0">
                <a:solidFill>
                  <a:schemeClr val="tx1"/>
                </a:solidFill>
              </a:rPr>
              <a:t>עבודות להתארגנות הקבלן החלו מחוץ לגבולות </a:t>
            </a:r>
            <a:r>
              <a:rPr lang="he-IL" sz="8500" dirty="0" err="1">
                <a:solidFill>
                  <a:schemeClr val="tx1"/>
                </a:solidFill>
              </a:rPr>
              <a:t>התת"ל</a:t>
            </a:r>
            <a:r>
              <a:rPr lang="he-IL" sz="8500" dirty="0">
                <a:solidFill>
                  <a:schemeClr val="tx1"/>
                </a:solidFill>
              </a:rPr>
              <a:t>.</a:t>
            </a:r>
          </a:p>
          <a:p>
            <a:pPr marL="525463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he-IL" sz="8500" dirty="0">
                <a:solidFill>
                  <a:schemeClr val="tx1"/>
                </a:solidFill>
              </a:rPr>
              <a:t>העבודה להקמת הסכר ועבודות בתחום הנחל יתחילו  ב 26.3.23 בכפוף לתאום עם רשות הניקוז.</a:t>
            </a:r>
          </a:p>
          <a:p>
            <a:pPr marL="525463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he-IL" sz="8500" dirty="0">
                <a:solidFill>
                  <a:schemeClr val="tx1"/>
                </a:solidFill>
              </a:rPr>
              <a:t>סיום עבודות בתעלה כולל ניקיון, פירוק הסכר והחזרת השטח לתחום רשות הניקוז, </a:t>
            </a:r>
          </a:p>
          <a:p>
            <a:pPr marL="182563" lvl="1" indent="0" algn="just">
              <a:lnSpc>
                <a:spcPct val="150000"/>
              </a:lnSpc>
              <a:buNone/>
              <a:defRPr/>
            </a:pPr>
            <a:r>
              <a:rPr lang="he-IL" sz="8500" dirty="0">
                <a:solidFill>
                  <a:schemeClr val="tx1"/>
                </a:solidFill>
              </a:rPr>
              <a:t>בתאריך 15/10/2023.</a:t>
            </a:r>
          </a:p>
          <a:p>
            <a:pPr marL="182563" lvl="1" indent="0" algn="just">
              <a:lnSpc>
                <a:spcPct val="150000"/>
              </a:lnSpc>
              <a:buNone/>
              <a:defRPr/>
            </a:pPr>
            <a:endParaRPr lang="he-IL" sz="8800" dirty="0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31523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DBE5B0CE-1F95-4BCF-8738-26B9233F4982}"/>
              </a:ext>
            </a:extLst>
          </p:cNvPr>
          <p:cNvSpPr txBox="1"/>
          <p:nvPr/>
        </p:nvSpPr>
        <p:spPr>
          <a:xfrm>
            <a:off x="19168269" y="1143000"/>
            <a:ext cx="209946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he-IL" sz="9600" b="1" dirty="0">
                <a:solidFill>
                  <a:schemeClr val="bg1"/>
                </a:solidFill>
              </a:rPr>
              <a:t>תיאום עם בעלי עניין ורשויות קיץ 2023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7E25A94E-AF39-4B7F-AA3E-B57841DDEB61}"/>
              </a:ext>
            </a:extLst>
          </p:cNvPr>
          <p:cNvSpPr txBox="1"/>
          <p:nvPr/>
        </p:nvSpPr>
        <p:spPr>
          <a:xfrm>
            <a:off x="1794669" y="3429000"/>
            <a:ext cx="38785800" cy="122187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857250" indent="-8572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8200" b="1" dirty="0">
                <a:effectLst/>
                <a:ea typeface="Calibri" panose="020F0502020204030204" pitchFamily="34" charset="0"/>
              </a:rPr>
              <a:t>תיאום הנדסי לעבודות קיץ 23' נמצא בשלבי סיום מול עירית תל-אביב וכמו כן מתואם מול שאר גורמי התשתיות הרלוונטיים</a:t>
            </a:r>
            <a:r>
              <a:rPr lang="he-IL" sz="8200" b="1" dirty="0"/>
              <a:t>.</a:t>
            </a:r>
          </a:p>
          <a:p>
            <a:pPr marL="857250" indent="-8572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8200" b="1" dirty="0"/>
              <a:t>העבודות מתואמות עם חברת </a:t>
            </a:r>
            <a:r>
              <a:rPr lang="he-IL" sz="8200" b="1" dirty="0" err="1"/>
              <a:t>נת"א</a:t>
            </a:r>
            <a:r>
              <a:rPr lang="he-IL" sz="8200" b="1" dirty="0"/>
              <a:t>.</a:t>
            </a:r>
          </a:p>
          <a:p>
            <a:pPr marL="857250" indent="-8572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8200" b="1" dirty="0"/>
              <a:t>הקבלן יקבל היתרי חפירה מכלל הגורמים טרם תחילת ביצוע עבודות הקידוחים.</a:t>
            </a:r>
            <a:br>
              <a:rPr lang="en-US" sz="8200" b="1" dirty="0"/>
            </a:b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548645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1D1FEBBC-1BE9-4E7B-91AC-B14D6A53193D}"/>
              </a:ext>
            </a:extLst>
          </p:cNvPr>
          <p:cNvSpPr txBox="1"/>
          <p:nvPr/>
        </p:nvSpPr>
        <p:spPr>
          <a:xfrm>
            <a:off x="1870869" y="4191000"/>
            <a:ext cx="37947600" cy="892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he-IL" sz="28700" dirty="0">
                <a:solidFill>
                  <a:srgbClr val="FFAD1B"/>
                </a:solidFill>
              </a:rPr>
            </a:br>
            <a:r>
              <a:rPr lang="he-IL" sz="28700" dirty="0">
                <a:solidFill>
                  <a:srgbClr val="FFAD1B"/>
                </a:solidFill>
              </a:rPr>
              <a:t>תודה</a:t>
            </a:r>
            <a:endParaRPr lang="he-IL" sz="8800" dirty="0">
              <a:solidFill>
                <a:srgbClr val="FFAD1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985618"/>
      </p:ext>
    </p:extLst>
  </p:cSld>
  <p:clrMapOvr>
    <a:masterClrMapping/>
  </p:clrMapOvr>
</p:sld>
</file>

<file path=ppt/theme/theme1.xml><?xml version="1.0" encoding="utf-8"?>
<a:theme xmlns:a="http://schemas.openxmlformats.org/drawingml/2006/main" name="GENARAL LAYOUT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5D03D80CB4C0AD43AD0789B6C9C0C0D6" ma:contentTypeVersion="1" ma:contentTypeDescription="צור מסמך חדש." ma:contentTypeScope="" ma:versionID="2da815efc74b03783644c702da5fa32c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75d0be1c5bbf6cd520794c7c6a473994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מתזמן תאריך התחלה" ma:description="'מתזמן תאריך התחלה' הוא עמודת אתר שיוצרת תכונת הפרסום. היא משמשת לציון התאריך והשעה שבהם יופיע הדף לראשונה בפני מבקרי האתר." ma:hidden="true" ma:internalName="PublishingStartDate">
      <xsd:simpleType>
        <xsd:restriction base="dms:Unknown"/>
      </xsd:simpleType>
    </xsd:element>
    <xsd:element name="PublishingExpirationDate" ma:index="9" nillable="true" ma:displayName="מתזמן תאריך סיום" ma:description="'תזמון תאריך הסיום' הוא עמודת אתר שיוצרת תכונת הפרסום. היא משמשת לציון התאריך והשעה שבהם הדף לא יופיע עוד בפני מבקרי האתר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56DEC1-865C-4BB3-8CBD-40A582E2931F}">
  <ds:schemaRefs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schemas.microsoft.com/sharepoint/v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4F6E1C9-0313-42B6-89CC-A5B4B51786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F11D89-D8DB-4C86-AF00-67B19A77C7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15996</TotalTime>
  <Words>1052</Words>
  <Application>Microsoft Office PowerPoint</Application>
  <PresentationFormat>מותאם אישית</PresentationFormat>
  <Paragraphs>153</Paragraphs>
  <Slides>24</Slides>
  <Notes>14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9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24</vt:i4>
      </vt:variant>
    </vt:vector>
  </HeadingPairs>
  <TitlesOfParts>
    <vt:vector size="34" baseType="lpstr">
      <vt:lpstr>Arial</vt:lpstr>
      <vt:lpstr>Arie</vt:lpstr>
      <vt:lpstr>Calibri</vt:lpstr>
      <vt:lpstr>Calibri Light</vt:lpstr>
      <vt:lpstr>David</vt:lpstr>
      <vt:lpstr>Narkisim</vt:lpstr>
      <vt:lpstr>Tahoma</vt:lpstr>
      <vt:lpstr>Times New Roman</vt:lpstr>
      <vt:lpstr>Wingdings</vt:lpstr>
      <vt:lpstr>GENARAL LAYOUTS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Палотенце</dc:creator>
  <cp:lastModifiedBy>אדם רוס</cp:lastModifiedBy>
  <cp:revision>1518</cp:revision>
  <cp:lastPrinted>2023-01-22T09:28:29Z</cp:lastPrinted>
  <dcterms:created xsi:type="dcterms:W3CDTF">2015-01-20T11:47:48Z</dcterms:created>
  <dcterms:modified xsi:type="dcterms:W3CDTF">2023-03-13T17:34:20Z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0x0101005D03D80CB4C0AD43AD0789B6C9C0C0D6</vt:lpwstr>
  </property>
</Properties>
</file>